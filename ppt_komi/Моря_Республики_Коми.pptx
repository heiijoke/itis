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F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77240" y="-411480"/>
            <a:ext cx="13654698" cy="76809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280160"/>
            <a:ext cx="12191695" cy="5577840"/>
          </a:xfrm>
          <a:prstGeom prst="rect">
            <a:avLst/>
          </a:prstGeom>
          <a:gradFill rotWithShape="1">
            <a:gsLst>
              <a:gs pos="0">
                <a:srgbClr val="050F1B">
                  <a:alpha val="0"/>
                </a:srgbClr>
              </a:gs>
              <a:gs pos="55000">
                <a:srgbClr val="050F1B">
                  <a:alpha val="55000"/>
                </a:srgbClr>
              </a:gs>
              <a:gs pos="100000">
                <a:srgbClr val="050F1B">
                  <a:alpha val="96000"/>
                </a:srgbClr>
              </a:gs>
            </a:gsLst>
            <a:lin ang="5400000" scaled="0"/>
          </a:gradFill>
          <a:ln w="0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841248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260">
                <a:solidFill>
                  <a:srgbClr val="5BD6C6"/>
                </a:solidFill>
                <a:latin typeface="Segoe UI"/>
              </a:rPr>
              <a:t>АТЛАС-ПУТЕВОДИТЕЛЬ · РЕСПУБЛИКА КОМИ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400" b="0" i="0">
                <a:solidFill>
                  <a:srgbClr val="F4FAFC"/>
                </a:solidFill>
                <a:latin typeface="Segoe UI Light"/>
              </a:rPr>
              <a:t>МОРЯ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255264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 i="0" spc="80">
                <a:solidFill>
                  <a:srgbClr val="F4FAFC"/>
                </a:solidFill>
                <a:latin typeface="Segoe UI Light"/>
              </a:rPr>
              <a:t>РЕСПУБЛИКИ КОМИ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005072"/>
            <a:ext cx="950976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C9E4EE"/>
                </a:solidFill>
                <a:latin typeface="Segoe UI"/>
              </a:rPr>
              <a:t>Девять морей и один океан сухопутного края — и история каждого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5138928"/>
            <a:ext cx="2926080" cy="10972"/>
          </a:xfrm>
          <a:prstGeom prst="rect">
            <a:avLst/>
          </a:prstGeom>
          <a:solidFill>
            <a:srgbClr val="5BD6C6">
              <a:alpha val="45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5340096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 spc="60">
                <a:solidFill>
                  <a:srgbClr val="93B3C3"/>
                </a:solidFill>
                <a:latin typeface="Segoe UI"/>
              </a:rPr>
              <a:t>416 774 км²  ·  от Тиманского кряжа до Приполярного Урала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240">
                <a:solidFill>
                  <a:srgbClr val="5BD6C6"/>
                </a:solidFill>
                <a:latin typeface="Segoe UI"/>
              </a:rPr>
              <a:t>01 · ВВЕДЕНИЕ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59536"/>
            <a:ext cx="10637215" cy="1371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4FAFC"/>
                </a:solidFill>
                <a:latin typeface="Segoe UI Light"/>
              </a:rPr>
              <a:t>У Коми нет выхода к морю.
Зато есть моря.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95728"/>
            <a:ext cx="594360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0" i="0">
                <a:solidFill>
                  <a:srgbClr val="C9E4EE"/>
                </a:solidFill>
                <a:latin typeface="Segoe UI"/>
              </a:rPr>
              <a:t>Республика Коми — 416 774 км² суши между Тиманским кряжем и Приполярным Уралом. До ближайшего настоящего моря, Баренцева, — больше 700 километров по прямой.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9E4EE"/>
                </a:solidFill>
                <a:latin typeface="Segoe UI"/>
              </a:rPr>
              <a:t>И всё же море здесь повсюду: в названиях озёр, в торфе болот, в чёрной воде стариц и в памяти геологов, для которых эта суша — дно трёх десятков древних морей.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2331720"/>
            <a:ext cx="2194560" cy="1481328"/>
          </a:xfrm>
          <a:prstGeom prst="roundRect">
            <a:avLst>
              <a:gd name="adj" fmla="val 7000"/>
            </a:avLst>
          </a:prstGeom>
          <a:solidFill>
            <a:srgbClr val="102C3E">
              <a:alpha val="55000"/>
            </a:srgbClr>
          </a:solidFill>
          <a:ln w="12700">
            <a:solidFill>
              <a:srgbClr val="5BD6C6">
                <a:alpha val="16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2904" y="2551176"/>
            <a:ext cx="1810512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5BD6C6"/>
                </a:solidFill>
                <a:latin typeface="Segoe UI Light"/>
              </a:rPr>
              <a:t>416 774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2904" y="3172968"/>
            <a:ext cx="1792224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3B3C3"/>
                </a:solidFill>
                <a:latin typeface="Segoe UI"/>
              </a:rPr>
              <a:t>км² — площадь республики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36024" y="2331720"/>
            <a:ext cx="2194560" cy="1481328"/>
          </a:xfrm>
          <a:prstGeom prst="roundRect">
            <a:avLst>
              <a:gd name="adj" fmla="val 7000"/>
            </a:avLst>
          </a:prstGeom>
          <a:solidFill>
            <a:srgbClr val="102C3E">
              <a:alpha val="55000"/>
            </a:srgbClr>
          </a:solidFill>
          <a:ln w="12700">
            <a:solidFill>
              <a:srgbClr val="5BD6C6">
                <a:alpha val="16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73768" y="2551176"/>
            <a:ext cx="1810512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5BD6C6"/>
                </a:solidFill>
                <a:latin typeface="Segoe UI Light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73768" y="3172968"/>
            <a:ext cx="1792224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3B3C3"/>
                </a:solidFill>
                <a:latin typeface="Segoe UI"/>
              </a:rPr>
              <a:t>выходов к морю на карте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95160" y="3959352"/>
            <a:ext cx="2194560" cy="1481328"/>
          </a:xfrm>
          <a:prstGeom prst="roundRect">
            <a:avLst>
              <a:gd name="adj" fmla="val 7000"/>
            </a:avLst>
          </a:prstGeom>
          <a:solidFill>
            <a:srgbClr val="102C3E">
              <a:alpha val="55000"/>
            </a:srgbClr>
          </a:solidFill>
          <a:ln w="12700">
            <a:solidFill>
              <a:srgbClr val="5BD6C6">
                <a:alpha val="16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4178808"/>
            <a:ext cx="1810512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5BD6C6"/>
                </a:solidFill>
                <a:latin typeface="Segoe UI Light"/>
              </a:rPr>
              <a:t>94 500+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4800600"/>
            <a:ext cx="1792224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3B3C3"/>
                </a:solidFill>
                <a:latin typeface="Segoe UI"/>
              </a:rPr>
              <a:t>озёр и водоёмов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36024" y="3959352"/>
            <a:ext cx="2194560" cy="1481328"/>
          </a:xfrm>
          <a:prstGeom prst="roundRect">
            <a:avLst>
              <a:gd name="adj" fmla="val 7000"/>
            </a:avLst>
          </a:prstGeom>
          <a:solidFill>
            <a:srgbClr val="102C3E">
              <a:alpha val="55000"/>
            </a:srgbClr>
          </a:solidFill>
          <a:ln w="12700">
            <a:solidFill>
              <a:srgbClr val="5BD6C6">
                <a:alpha val="16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73768" y="4178808"/>
            <a:ext cx="1810512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5BD6C6"/>
                </a:solidFill>
                <a:latin typeface="Segoe UI Light"/>
              </a:rPr>
              <a:t>9+1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73768" y="4800600"/>
            <a:ext cx="1792224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3B3C3"/>
                </a:solidFill>
                <a:latin typeface="Segoe UI"/>
              </a:rPr>
              <a:t>морей и один океан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71500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3B3C3"/>
                </a:solidFill>
                <a:latin typeface="Segoe UI"/>
              </a:rPr>
              <a:t>Море №1 — Печорское — длиной 1809 км. Море №9 — болото, по которому можно пройти пешком.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6291072"/>
            <a:ext cx="10637215" cy="7315"/>
          </a:xfrm>
          <a:prstGeom prst="rect">
            <a:avLst/>
          </a:prstGeom>
          <a:solidFill>
            <a:srgbClr val="F4FAFC">
              <a:alpha val="12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64282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180">
                <a:solidFill>
                  <a:srgbClr val="93B3C3"/>
                </a:solidFill>
                <a:latin typeface="Segoe UI"/>
              </a:rPr>
              <a:t>МОРЯ РЕСПУБЛИКИ КОМИ · АТЛАС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17175" y="6428232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 spc="180">
                <a:solidFill>
                  <a:srgbClr val="93B3C3"/>
                </a:solidFill>
                <a:latin typeface="Segoe UI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09760" y="-1737360"/>
            <a:ext cx="4937760" cy="4937760"/>
          </a:xfrm>
          <a:prstGeom prst="ellipse">
            <a:avLst/>
          </a:prstGeom>
          <a:noFill/>
          <a:ln w="12700">
            <a:solidFill>
              <a:srgbClr val="9AC2CC">
                <a:alpha val="45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240">
                <a:solidFill>
                  <a:srgbClr val="187F78"/>
                </a:solidFill>
                <a:latin typeface="Segoe UI"/>
              </a:rPr>
              <a:t>02 · КАТАЛОГ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59536"/>
            <a:ext cx="10637215" cy="1371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0B1F2E"/>
                </a:solidFill>
                <a:latin typeface="Segoe UI Light"/>
              </a:rPr>
              <a:t>Девять морей Коми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5A6E"/>
                </a:solidFill>
                <a:latin typeface="Segoe UI"/>
              </a:rPr>
              <a:t>Порядок — от самого древнего к самому рукотворному.  Кружок: зелёный — природное, золотой — рукотворное, серый — болото.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39696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187F78"/>
                </a:solidFill>
                <a:latin typeface="Segoe UI"/>
              </a:rPr>
              <a:t>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139696"/>
            <a:ext cx="233172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187F78"/>
                </a:solidFill>
                <a:latin typeface="Segoe UI"/>
              </a:rPr>
              <a:t>МОРЕ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139696"/>
            <a:ext cx="26974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187F78"/>
                </a:solidFill>
                <a:latin typeface="Segoe UI"/>
              </a:rPr>
              <a:t>ГДЕ ИСКАТЬ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139696"/>
            <a:ext cx="31546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187F78"/>
                </a:solidFill>
                <a:latin typeface="Segoe UI"/>
              </a:rPr>
              <a:t>КАК СОЗДАНО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2139696"/>
            <a:ext cx="17830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187F78"/>
                </a:solidFill>
                <a:latin typeface="Segoe UI"/>
              </a:rPr>
              <a:t>ВОЗРАСТ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414015"/>
            <a:ext cx="10515600" cy="10972"/>
          </a:xfrm>
          <a:prstGeom prst="rect">
            <a:avLst/>
          </a:prstGeom>
          <a:solidFill>
            <a:srgbClr val="0B1F2E">
              <a:alpha val="22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7512" y="2441448"/>
            <a:ext cx="10744200" cy="361188"/>
          </a:xfrm>
          <a:prstGeom prst="rect">
            <a:avLst/>
          </a:prstGeom>
          <a:solidFill>
            <a:srgbClr val="F4FAFC">
              <a:alpha val="75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04672" y="2578608"/>
            <a:ext cx="77724" cy="77724"/>
          </a:xfrm>
          <a:prstGeom prst="ellipse">
            <a:avLst/>
          </a:prstGeom>
          <a:solidFill>
            <a:srgbClr val="187F78"/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2532887"/>
            <a:ext cx="41148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 spc="40">
                <a:solidFill>
                  <a:srgbClr val="187F78"/>
                </a:solidFill>
                <a:latin typeface="Segoe U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505456"/>
            <a:ext cx="2240279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B1F2E"/>
                </a:solidFill>
                <a:latin typeface="Segoe UI"/>
              </a:rPr>
              <a:t>Печорское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528315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5A6E"/>
                </a:solidFill>
                <a:latin typeface="Segoe UI"/>
              </a:rPr>
              <a:t>север и северо-восток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528315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5A6E"/>
                </a:solidFill>
                <a:latin typeface="Segoe UI"/>
              </a:rPr>
              <a:t>река и древний морской бассейн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528315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B1F2E"/>
                </a:solidFill>
                <a:latin typeface="Segoe UI"/>
              </a:rPr>
              <a:t>десятки млн лет</a:t>
            </a:r>
          </a:p>
        </p:txBody>
      </p:sp>
      <p:sp>
        <p:nvSpPr>
          <p:cNvPr id="19" name="Oval 18"/>
          <p:cNvSpPr/>
          <p:nvPr/>
        </p:nvSpPr>
        <p:spPr>
          <a:xfrm>
            <a:off x="804672" y="2985515"/>
            <a:ext cx="77724" cy="77724"/>
          </a:xfrm>
          <a:prstGeom prst="ellipse">
            <a:avLst/>
          </a:prstGeom>
          <a:solidFill>
            <a:srgbClr val="187F78"/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2939795"/>
            <a:ext cx="41148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 spc="40">
                <a:solidFill>
                  <a:srgbClr val="187F78"/>
                </a:solidFill>
                <a:latin typeface="Segoe U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2912363"/>
            <a:ext cx="2240279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B1F2E"/>
                </a:solidFill>
                <a:latin typeface="Segoe UI"/>
              </a:rPr>
              <a:t>Коми море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2935223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5A6E"/>
                </a:solidFill>
                <a:latin typeface="Segoe UI"/>
              </a:rPr>
              <a:t>бассейн Выми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935223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5A6E"/>
                </a:solidFill>
                <a:latin typeface="Segoe UI"/>
              </a:rPr>
              <a:t>приледниковый реликт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2935223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B1F2E"/>
                </a:solidFill>
                <a:latin typeface="Segoe UI"/>
              </a:rPr>
              <a:t>≈ 10 тыс. лет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" y="3255264"/>
            <a:ext cx="10744200" cy="361188"/>
          </a:xfrm>
          <a:prstGeom prst="rect">
            <a:avLst/>
          </a:prstGeom>
          <a:solidFill>
            <a:srgbClr val="F4FAFC">
              <a:alpha val="75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3392424"/>
            <a:ext cx="77724" cy="77724"/>
          </a:xfrm>
          <a:prstGeom prst="ellipse">
            <a:avLst/>
          </a:prstGeom>
          <a:solidFill>
            <a:srgbClr val="187F78"/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" y="3346703"/>
            <a:ext cx="41148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 spc="40">
                <a:solidFill>
                  <a:srgbClr val="187F78"/>
                </a:solidFill>
                <a:latin typeface="Segoe UI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3319272"/>
            <a:ext cx="2240279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B1F2E"/>
                </a:solidFill>
                <a:latin typeface="Segoe UI"/>
              </a:rPr>
              <a:t>Ямское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3342132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5A6E"/>
                </a:solidFill>
                <a:latin typeface="Segoe UI"/>
              </a:rPr>
              <a:t>Тиманский кряж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3342132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5A6E"/>
                </a:solidFill>
                <a:latin typeface="Segoe UI"/>
              </a:rPr>
              <a:t>лёд выпахал, разломы подправили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3342132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B1F2E"/>
                </a:solidFill>
                <a:latin typeface="Segoe UI"/>
              </a:rPr>
              <a:t>≈ 10 тыс. лет</a:t>
            </a:r>
          </a:p>
        </p:txBody>
      </p:sp>
      <p:sp>
        <p:nvSpPr>
          <p:cNvPr id="32" name="Oval 31"/>
          <p:cNvSpPr/>
          <p:nvPr/>
        </p:nvSpPr>
        <p:spPr>
          <a:xfrm>
            <a:off x="804672" y="3799331"/>
            <a:ext cx="77724" cy="77724"/>
          </a:xfrm>
          <a:prstGeom prst="ellipse">
            <a:avLst/>
          </a:prstGeom>
          <a:solidFill>
            <a:srgbClr val="187F78"/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" y="3753611"/>
            <a:ext cx="41148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 spc="40">
                <a:solidFill>
                  <a:srgbClr val="187F78"/>
                </a:solidFill>
                <a:latin typeface="Segoe UI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3726179"/>
            <a:ext cx="2240279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B1F2E"/>
                </a:solidFill>
                <a:latin typeface="Segoe UI"/>
              </a:rPr>
              <a:t>Косминское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0" y="3749039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5A6E"/>
                </a:solidFill>
                <a:latin typeface="Segoe UI"/>
              </a:rPr>
              <a:t>север Тимана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3749039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5A6E"/>
                </a:solidFill>
                <a:latin typeface="Segoe UI"/>
              </a:rPr>
              <a:t>ледниковая котловина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0" y="3749039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B1F2E"/>
                </a:solidFill>
                <a:latin typeface="Segoe UI"/>
              </a:rPr>
              <a:t>≈ 10 тыс. лет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7512" y="4069080"/>
            <a:ext cx="10744200" cy="361188"/>
          </a:xfrm>
          <a:prstGeom prst="rect">
            <a:avLst/>
          </a:prstGeom>
          <a:solidFill>
            <a:srgbClr val="F4FAFC">
              <a:alpha val="75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04672" y="4206240"/>
            <a:ext cx="77724" cy="77724"/>
          </a:xfrm>
          <a:prstGeom prst="ellipse">
            <a:avLst/>
          </a:prstGeom>
          <a:solidFill>
            <a:srgbClr val="187F78"/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9264" y="4160520"/>
            <a:ext cx="41148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 spc="40">
                <a:solidFill>
                  <a:srgbClr val="187F78"/>
                </a:solidFill>
                <a:latin typeface="Segoe UI"/>
              </a:rP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34440" y="4133087"/>
            <a:ext cx="2240279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B1F2E"/>
                </a:solidFill>
                <a:latin typeface="Segoe UI"/>
              </a:rPr>
              <a:t>Донты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0" y="4155948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5A6E"/>
                </a:solidFill>
                <a:latin typeface="Segoe UI"/>
              </a:rPr>
              <a:t>Усть-Куломский район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4155948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5A6E"/>
                </a:solidFill>
                <a:latin typeface="Segoe UI"/>
              </a:rPr>
              <a:t>старица Вычегды, торф подпрудил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8320" y="4155948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B1F2E"/>
                </a:solidFill>
                <a:latin typeface="Segoe UI"/>
              </a:rPr>
              <a:t>≈ 10 тыс. лет</a:t>
            </a:r>
          </a:p>
        </p:txBody>
      </p:sp>
      <p:sp>
        <p:nvSpPr>
          <p:cNvPr id="45" name="Oval 44"/>
          <p:cNvSpPr/>
          <p:nvPr/>
        </p:nvSpPr>
        <p:spPr>
          <a:xfrm>
            <a:off x="804672" y="4613148"/>
            <a:ext cx="77724" cy="77724"/>
          </a:xfrm>
          <a:prstGeom prst="ellipse">
            <a:avLst/>
          </a:prstGeom>
          <a:solidFill>
            <a:srgbClr val="A56A2C"/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9264" y="4567428"/>
            <a:ext cx="41148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 spc="40">
                <a:solidFill>
                  <a:srgbClr val="A56A2C"/>
                </a:solidFill>
                <a:latin typeface="Segoe UI"/>
              </a:rPr>
              <a:t>06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34440" y="4539996"/>
            <a:ext cx="2240279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B1F2E"/>
                </a:solidFill>
                <a:latin typeface="Segoe UI"/>
              </a:rPr>
              <a:t>Печорское наливное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66160" y="4562856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5A6E"/>
                </a:solidFill>
                <a:latin typeface="Segoe UI"/>
              </a:rPr>
              <a:t>у Печорской ГРЭС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4562856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5A6E"/>
                </a:solidFill>
                <a:latin typeface="Segoe UI"/>
              </a:rPr>
              <a:t>человек: насосы и канал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18320" y="4562856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B1F2E"/>
                </a:solidFill>
                <a:latin typeface="Segoe UI"/>
              </a:rPr>
              <a:t>1979 год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67512" y="4882896"/>
            <a:ext cx="10744200" cy="361188"/>
          </a:xfrm>
          <a:prstGeom prst="rect">
            <a:avLst/>
          </a:prstGeom>
          <a:solidFill>
            <a:srgbClr val="F4FAFC">
              <a:alpha val="75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04672" y="5020055"/>
            <a:ext cx="77724" cy="77724"/>
          </a:xfrm>
          <a:prstGeom prst="ellipse">
            <a:avLst/>
          </a:prstGeom>
          <a:solidFill>
            <a:srgbClr val="A56A2C"/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9264" y="4974336"/>
            <a:ext cx="41148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 spc="40">
                <a:solidFill>
                  <a:srgbClr val="A56A2C"/>
                </a:solidFill>
                <a:latin typeface="Segoe UI"/>
              </a:rPr>
              <a:t>07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34440" y="4946903"/>
            <a:ext cx="2240279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B1F2E"/>
                </a:solidFill>
                <a:latin typeface="Segoe UI"/>
              </a:rPr>
              <a:t>Нювчимское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66160" y="4969764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5A6E"/>
                </a:solidFill>
                <a:latin typeface="Segoe UI"/>
              </a:rPr>
              <a:t>приток Сысолы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4969764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5A6E"/>
                </a:solidFill>
                <a:latin typeface="Segoe UI"/>
              </a:rPr>
              <a:t>человек: плотина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18320" y="4969764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B1F2E"/>
                </a:solidFill>
                <a:latin typeface="Segoe UI"/>
              </a:rPr>
              <a:t>XX век</a:t>
            </a:r>
          </a:p>
        </p:txBody>
      </p:sp>
      <p:sp>
        <p:nvSpPr>
          <p:cNvPr id="58" name="Oval 57"/>
          <p:cNvSpPr/>
          <p:nvPr/>
        </p:nvSpPr>
        <p:spPr>
          <a:xfrm>
            <a:off x="804672" y="5426964"/>
            <a:ext cx="77724" cy="77724"/>
          </a:xfrm>
          <a:prstGeom prst="ellipse">
            <a:avLst/>
          </a:prstGeom>
          <a:solidFill>
            <a:srgbClr val="A56A2C"/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" y="5381244"/>
            <a:ext cx="41148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 spc="40">
                <a:solidFill>
                  <a:srgbClr val="A56A2C"/>
                </a:solidFill>
                <a:latin typeface="Segoe UI"/>
              </a:rPr>
              <a:t>08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34440" y="5353812"/>
            <a:ext cx="2240279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B1F2E"/>
                </a:solidFill>
                <a:latin typeface="Segoe UI"/>
              </a:rPr>
              <a:t>Кажимское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566160" y="5376672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5A6E"/>
                </a:solidFill>
                <a:latin typeface="Segoe UI"/>
              </a:rPr>
              <a:t>приток Сысолы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63640" y="5376672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5A6E"/>
                </a:solidFill>
                <a:latin typeface="Segoe UI"/>
              </a:rPr>
              <a:t>человек: плотина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18320" y="5376672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B1F2E"/>
                </a:solidFill>
                <a:latin typeface="Segoe UI"/>
              </a:rPr>
              <a:t>XX век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67512" y="5696712"/>
            <a:ext cx="10744200" cy="361188"/>
          </a:xfrm>
          <a:prstGeom prst="rect">
            <a:avLst/>
          </a:prstGeom>
          <a:solidFill>
            <a:srgbClr val="F4FAFC">
              <a:alpha val="75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04672" y="5833871"/>
            <a:ext cx="77724" cy="77724"/>
          </a:xfrm>
          <a:prstGeom prst="ellipse">
            <a:avLst/>
          </a:prstGeom>
          <a:solidFill>
            <a:srgbClr val="5B7C8C"/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69264" y="5788151"/>
            <a:ext cx="41148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 spc="40">
                <a:solidFill>
                  <a:srgbClr val="5B7C8C"/>
                </a:solidFill>
                <a:latin typeface="Segoe UI"/>
              </a:rPr>
              <a:t>09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34440" y="5760719"/>
            <a:ext cx="2240279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B1F2E"/>
                </a:solidFill>
                <a:latin typeface="Segoe UI"/>
              </a:rPr>
              <a:t>Океан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566160" y="5783579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5A6E"/>
                </a:solidFill>
                <a:latin typeface="Segoe UI"/>
              </a:rPr>
              <a:t>бассейн Печоры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63640" y="5783579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5A6E"/>
                </a:solidFill>
                <a:latin typeface="Segoe UI"/>
              </a:rPr>
              <a:t>послеледниковое болото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418320" y="5783579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B1F2E"/>
                </a:solidFill>
                <a:latin typeface="Segoe UI"/>
              </a:rPr>
              <a:t>≈ 10 тыс. лет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77240" y="6291072"/>
            <a:ext cx="10637215" cy="7315"/>
          </a:xfrm>
          <a:prstGeom prst="rect">
            <a:avLst/>
          </a:prstGeom>
          <a:solidFill>
            <a:srgbClr val="0B1F2E">
              <a:alpha val="12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77240" y="64282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180">
                <a:solidFill>
                  <a:srgbClr val="5B7C8C"/>
                </a:solidFill>
                <a:latin typeface="Segoe UI"/>
              </a:rPr>
              <a:t>МОРЯ РЕСПУБЛИКИ КОМИ · АТЛАС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317175" y="6428232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 spc="180">
                <a:solidFill>
                  <a:srgbClr val="5B7C8C"/>
                </a:solidFill>
                <a:latin typeface="Segoe UI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240">
                <a:solidFill>
                  <a:srgbClr val="5BD6C6"/>
                </a:solidFill>
                <a:latin typeface="Segoe UI"/>
              </a:rPr>
              <a:t>03 · АТЛАС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59536"/>
            <a:ext cx="10637215" cy="1371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4FAFC"/>
                </a:solidFill>
                <a:latin typeface="Segoe UI Light"/>
              </a:rPr>
              <a:t>Где искать моря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3B3C3"/>
                </a:solidFill>
                <a:latin typeface="Segoe UI"/>
              </a:rPr>
              <a:t>Схема республики: реки, кряж и девять морей атласа</a:t>
            </a:r>
          </a:p>
        </p:txBody>
      </p:sp>
      <p:sp>
        <p:nvSpPr>
          <p:cNvPr id="5" name="Freeform 4"/>
          <p:cNvSpPr/>
          <p:nvPr/>
        </p:nvSpPr>
        <p:spPr>
          <a:xfrm>
            <a:off x="1267358" y="2091233"/>
            <a:ext cx="6740043" cy="3858311"/>
          </a:xfrm>
          <a:custGeom>
            <a:avLst/>
            <a:gdLst/>
            <a:ahLst/>
            <a:cxnLst/>
            <a:rect l="l" t="t" r="r" b="b"/>
            <a:pathLst>
              <a:path w="6740043" h="3858311">
                <a:moveTo>
                  <a:pt x="1777594" y="79553"/>
                </a:moveTo>
                <a:lnTo>
                  <a:pt x="2962656" y="0"/>
                </a:lnTo>
                <a:lnTo>
                  <a:pt x="3851453" y="119329"/>
                </a:lnTo>
                <a:lnTo>
                  <a:pt x="4443984" y="39776"/>
                </a:lnTo>
                <a:lnTo>
                  <a:pt x="5036516" y="238658"/>
                </a:lnTo>
                <a:lnTo>
                  <a:pt x="5703113" y="477317"/>
                </a:lnTo>
                <a:lnTo>
                  <a:pt x="6221578" y="795528"/>
                </a:lnTo>
                <a:lnTo>
                  <a:pt x="6740043" y="1153515"/>
                </a:lnTo>
                <a:lnTo>
                  <a:pt x="6591910" y="1511503"/>
                </a:lnTo>
                <a:lnTo>
                  <a:pt x="6073445" y="1789938"/>
                </a:lnTo>
                <a:lnTo>
                  <a:pt x="5703113" y="2147925"/>
                </a:lnTo>
                <a:lnTo>
                  <a:pt x="5184648" y="2386584"/>
                </a:lnTo>
                <a:lnTo>
                  <a:pt x="4888383" y="2784348"/>
                </a:lnTo>
                <a:lnTo>
                  <a:pt x="4221785" y="3062783"/>
                </a:lnTo>
                <a:lnTo>
                  <a:pt x="3703320" y="3420770"/>
                </a:lnTo>
                <a:lnTo>
                  <a:pt x="3036723" y="3659429"/>
                </a:lnTo>
                <a:lnTo>
                  <a:pt x="2592324" y="3858311"/>
                </a:lnTo>
                <a:lnTo>
                  <a:pt x="2221992" y="3619652"/>
                </a:lnTo>
                <a:lnTo>
                  <a:pt x="2073860" y="3261665"/>
                </a:lnTo>
                <a:lnTo>
                  <a:pt x="1555395" y="2983230"/>
                </a:lnTo>
                <a:lnTo>
                  <a:pt x="1185063" y="2625242"/>
                </a:lnTo>
                <a:lnTo>
                  <a:pt x="666598" y="2386584"/>
                </a:lnTo>
                <a:lnTo>
                  <a:pt x="296266" y="1988820"/>
                </a:lnTo>
                <a:lnTo>
                  <a:pt x="0" y="1630832"/>
                </a:lnTo>
                <a:lnTo>
                  <a:pt x="222200" y="1233068"/>
                </a:lnTo>
                <a:lnTo>
                  <a:pt x="592532" y="875081"/>
                </a:lnTo>
                <a:lnTo>
                  <a:pt x="1036930" y="517093"/>
                </a:lnTo>
                <a:lnTo>
                  <a:pt x="1407262" y="278435"/>
                </a:lnTo>
                <a:close/>
              </a:path>
            </a:pathLst>
          </a:custGeom>
          <a:solidFill>
            <a:srgbClr val="0F3348">
              <a:alpha val="85000"/>
            </a:srgbClr>
          </a:solidFill>
          <a:ln w="15875">
            <a:solidFill>
              <a:srgbClr val="5BD6C6">
                <a:alpha val="3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1785823" y="2648102"/>
            <a:ext cx="4221785" cy="1352398"/>
          </a:xfrm>
          <a:custGeom>
            <a:avLst/>
            <a:gdLst/>
            <a:ahLst/>
            <a:cxnLst/>
            <a:rect l="l" t="t" r="r" b="b"/>
            <a:pathLst>
              <a:path w="4221785" h="1352398">
                <a:moveTo>
                  <a:pt x="0" y="1352398"/>
                </a:moveTo>
                <a:lnTo>
                  <a:pt x="962863" y="1034187"/>
                </a:lnTo>
                <a:lnTo>
                  <a:pt x="1999793" y="676199"/>
                </a:lnTo>
                <a:lnTo>
                  <a:pt x="3110789" y="318212"/>
                </a:lnTo>
                <a:lnTo>
                  <a:pt x="4221785" y="0"/>
                </a:lnTo>
              </a:path>
            </a:pathLst>
          </a:custGeom>
          <a:noFill/>
          <a:ln w="15875">
            <a:solidFill>
              <a:srgbClr val="93B3C3">
                <a:alpha val="45000"/>
              </a:srgbClr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4304081" y="2528773"/>
            <a:ext cx="1851660" cy="3062783"/>
          </a:xfrm>
          <a:custGeom>
            <a:avLst/>
            <a:gdLst/>
            <a:ahLst/>
            <a:cxnLst/>
            <a:rect l="l" t="t" r="r" b="b"/>
            <a:pathLst>
              <a:path w="1851660" h="3062783">
                <a:moveTo>
                  <a:pt x="148133" y="3062783"/>
                </a:moveTo>
                <a:lnTo>
                  <a:pt x="137652" y="3051129"/>
                </a:lnTo>
                <a:lnTo>
                  <a:pt x="122061" y="3036371"/>
                </a:lnTo>
                <a:lnTo>
                  <a:pt x="102915" y="3018989"/>
                </a:lnTo>
                <a:lnTo>
                  <a:pt x="81769" y="2999459"/>
                </a:lnTo>
                <a:lnTo>
                  <a:pt x="60179" y="2978258"/>
                </a:lnTo>
                <a:lnTo>
                  <a:pt x="39699" y="2955864"/>
                </a:lnTo>
                <a:lnTo>
                  <a:pt x="21886" y="2932754"/>
                </a:lnTo>
                <a:lnTo>
                  <a:pt x="8295" y="2909405"/>
                </a:lnTo>
                <a:lnTo>
                  <a:pt x="481" y="2886295"/>
                </a:lnTo>
                <a:lnTo>
                  <a:pt x="0" y="2863901"/>
                </a:lnTo>
                <a:lnTo>
                  <a:pt x="6555" y="2842004"/>
                </a:lnTo>
                <a:lnTo>
                  <a:pt x="18368" y="2819988"/>
                </a:lnTo>
                <a:lnTo>
                  <a:pt x="34774" y="2797733"/>
                </a:lnTo>
                <a:lnTo>
                  <a:pt x="55105" y="2775120"/>
                </a:lnTo>
                <a:lnTo>
                  <a:pt x="78695" y="2752030"/>
                </a:lnTo>
                <a:lnTo>
                  <a:pt x="104878" y="2728343"/>
                </a:lnTo>
                <a:lnTo>
                  <a:pt x="132986" y="2703940"/>
                </a:lnTo>
                <a:lnTo>
                  <a:pt x="162353" y="2678702"/>
                </a:lnTo>
                <a:lnTo>
                  <a:pt x="192313" y="2652509"/>
                </a:lnTo>
                <a:lnTo>
                  <a:pt x="222199" y="2625243"/>
                </a:lnTo>
                <a:lnTo>
                  <a:pt x="255566" y="2596643"/>
                </a:lnTo>
                <a:lnTo>
                  <a:pt x="295080" y="2566692"/>
                </a:lnTo>
                <a:lnTo>
                  <a:pt x="338742" y="2535626"/>
                </a:lnTo>
                <a:lnTo>
                  <a:pt x="384553" y="2503686"/>
                </a:lnTo>
                <a:lnTo>
                  <a:pt x="430511" y="2471109"/>
                </a:lnTo>
                <a:lnTo>
                  <a:pt x="474617" y="2438134"/>
                </a:lnTo>
                <a:lnTo>
                  <a:pt x="514872" y="2405001"/>
                </a:lnTo>
                <a:lnTo>
                  <a:pt x="549276" y="2371946"/>
                </a:lnTo>
                <a:lnTo>
                  <a:pt x="575829" y="2339211"/>
                </a:lnTo>
                <a:lnTo>
                  <a:pt x="592531" y="2307031"/>
                </a:lnTo>
                <a:lnTo>
                  <a:pt x="596716" y="2275210"/>
                </a:lnTo>
                <a:lnTo>
                  <a:pt x="588976" y="2243389"/>
                </a:lnTo>
                <a:lnTo>
                  <a:pt x="572200" y="2211568"/>
                </a:lnTo>
                <a:lnTo>
                  <a:pt x="549276" y="2179747"/>
                </a:lnTo>
                <a:lnTo>
                  <a:pt x="523094" y="2147926"/>
                </a:lnTo>
                <a:lnTo>
                  <a:pt x="496541" y="2116105"/>
                </a:lnTo>
                <a:lnTo>
                  <a:pt x="472506" y="2084284"/>
                </a:lnTo>
                <a:lnTo>
                  <a:pt x="453879" y="2052462"/>
                </a:lnTo>
                <a:lnTo>
                  <a:pt x="443546" y="2020641"/>
                </a:lnTo>
                <a:lnTo>
                  <a:pt x="444398" y="1988820"/>
                </a:lnTo>
                <a:lnTo>
                  <a:pt x="456360" y="1956999"/>
                </a:lnTo>
                <a:lnTo>
                  <a:pt x="476395" y="1925178"/>
                </a:lnTo>
                <a:lnTo>
                  <a:pt x="502948" y="1893357"/>
                </a:lnTo>
                <a:lnTo>
                  <a:pt x="534463" y="1861536"/>
                </a:lnTo>
                <a:lnTo>
                  <a:pt x="569385" y="1829715"/>
                </a:lnTo>
                <a:lnTo>
                  <a:pt x="606159" y="1797893"/>
                </a:lnTo>
                <a:lnTo>
                  <a:pt x="643229" y="1766072"/>
                </a:lnTo>
                <a:lnTo>
                  <a:pt x="679041" y="1734251"/>
                </a:lnTo>
                <a:lnTo>
                  <a:pt x="712037" y="1702430"/>
                </a:lnTo>
                <a:lnTo>
                  <a:pt x="740664" y="1670609"/>
                </a:lnTo>
                <a:lnTo>
                  <a:pt x="766217" y="1638788"/>
                </a:lnTo>
                <a:lnTo>
                  <a:pt x="791029" y="1606967"/>
                </a:lnTo>
                <a:lnTo>
                  <a:pt x="815101" y="1575146"/>
                </a:lnTo>
                <a:lnTo>
                  <a:pt x="838431" y="1543325"/>
                </a:lnTo>
                <a:lnTo>
                  <a:pt x="861022" y="1511503"/>
                </a:lnTo>
                <a:lnTo>
                  <a:pt x="882871" y="1479682"/>
                </a:lnTo>
                <a:lnTo>
                  <a:pt x="903980" y="1447861"/>
                </a:lnTo>
                <a:lnTo>
                  <a:pt x="924348" y="1416040"/>
                </a:lnTo>
                <a:lnTo>
                  <a:pt x="943976" y="1384219"/>
                </a:lnTo>
                <a:lnTo>
                  <a:pt x="962863" y="1352398"/>
                </a:lnTo>
                <a:lnTo>
                  <a:pt x="980009" y="1320577"/>
                </a:lnTo>
                <a:lnTo>
                  <a:pt x="994860" y="1288756"/>
                </a:lnTo>
                <a:lnTo>
                  <a:pt x="1008081" y="1256934"/>
                </a:lnTo>
                <a:lnTo>
                  <a:pt x="1020339" y="1225113"/>
                </a:lnTo>
                <a:lnTo>
                  <a:pt x="1032300" y="1193292"/>
                </a:lnTo>
                <a:lnTo>
                  <a:pt x="1044632" y="1161471"/>
                </a:lnTo>
                <a:lnTo>
                  <a:pt x="1058001" y="1129650"/>
                </a:lnTo>
                <a:lnTo>
                  <a:pt x="1073074" y="1097829"/>
                </a:lnTo>
                <a:lnTo>
                  <a:pt x="1090516" y="1066008"/>
                </a:lnTo>
                <a:lnTo>
                  <a:pt x="1110996" y="1034187"/>
                </a:lnTo>
                <a:lnTo>
                  <a:pt x="1135290" y="1002365"/>
                </a:lnTo>
                <a:lnTo>
                  <a:pt x="1163139" y="970544"/>
                </a:lnTo>
                <a:lnTo>
                  <a:pt x="1193654" y="938723"/>
                </a:lnTo>
                <a:lnTo>
                  <a:pt x="1225947" y="906902"/>
                </a:lnTo>
                <a:lnTo>
                  <a:pt x="1259129" y="875081"/>
                </a:lnTo>
                <a:lnTo>
                  <a:pt x="1292310" y="843260"/>
                </a:lnTo>
                <a:lnTo>
                  <a:pt x="1324603" y="811439"/>
                </a:lnTo>
                <a:lnTo>
                  <a:pt x="1355119" y="779618"/>
                </a:lnTo>
                <a:lnTo>
                  <a:pt x="1382968" y="747797"/>
                </a:lnTo>
                <a:lnTo>
                  <a:pt x="1407261" y="715975"/>
                </a:lnTo>
                <a:lnTo>
                  <a:pt x="1427407" y="684512"/>
                </a:lnTo>
                <a:lnTo>
                  <a:pt x="1443998" y="653606"/>
                </a:lnTo>
                <a:lnTo>
                  <a:pt x="1457923" y="623018"/>
                </a:lnTo>
                <a:lnTo>
                  <a:pt x="1470070" y="592509"/>
                </a:lnTo>
                <a:lnTo>
                  <a:pt x="1481328" y="561842"/>
                </a:lnTo>
                <a:lnTo>
                  <a:pt x="1492586" y="530776"/>
                </a:lnTo>
                <a:lnTo>
                  <a:pt x="1504733" y="499075"/>
                </a:lnTo>
                <a:lnTo>
                  <a:pt x="1518657" y="466498"/>
                </a:lnTo>
                <a:lnTo>
                  <a:pt x="1535248" y="432807"/>
                </a:lnTo>
                <a:lnTo>
                  <a:pt x="1555394" y="397764"/>
                </a:lnTo>
                <a:lnTo>
                  <a:pt x="1580355" y="359420"/>
                </a:lnTo>
                <a:lnTo>
                  <a:pt x="1609907" y="316939"/>
                </a:lnTo>
                <a:lnTo>
                  <a:pt x="1642718" y="271753"/>
                </a:lnTo>
                <a:lnTo>
                  <a:pt x="1677456" y="225294"/>
                </a:lnTo>
                <a:lnTo>
                  <a:pt x="1712785" y="178994"/>
                </a:lnTo>
                <a:lnTo>
                  <a:pt x="1747374" y="134285"/>
                </a:lnTo>
                <a:lnTo>
                  <a:pt x="1779889" y="92600"/>
                </a:lnTo>
                <a:lnTo>
                  <a:pt x="1808998" y="55369"/>
                </a:lnTo>
                <a:lnTo>
                  <a:pt x="1833365" y="24025"/>
                </a:lnTo>
                <a:lnTo>
                  <a:pt x="1851660" y="0"/>
                </a:lnTo>
              </a:path>
            </a:pathLst>
          </a:custGeom>
          <a:noFill/>
          <a:ln w="20320">
            <a:solidFill>
              <a:srgbClr val="7FB8D0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1637690" y="4000500"/>
            <a:ext cx="2666391" cy="477317"/>
          </a:xfrm>
          <a:custGeom>
            <a:avLst/>
            <a:gdLst/>
            <a:ahLst/>
            <a:cxnLst/>
            <a:rect l="l" t="t" r="r" b="b"/>
            <a:pathLst>
              <a:path w="2666391" h="477317">
                <a:moveTo>
                  <a:pt x="2666391" y="477317"/>
                </a:moveTo>
                <a:lnTo>
                  <a:pt x="2635542" y="469322"/>
                </a:lnTo>
                <a:lnTo>
                  <a:pt x="2595880" y="457906"/>
                </a:lnTo>
                <a:lnTo>
                  <a:pt x="2548959" y="444024"/>
                </a:lnTo>
                <a:lnTo>
                  <a:pt x="2496334" y="428630"/>
                </a:lnTo>
                <a:lnTo>
                  <a:pt x="2439562" y="412680"/>
                </a:lnTo>
                <a:lnTo>
                  <a:pt x="2380198" y="397128"/>
                </a:lnTo>
                <a:lnTo>
                  <a:pt x="2319797" y="382927"/>
                </a:lnTo>
                <a:lnTo>
                  <a:pt x="2259914" y="371034"/>
                </a:lnTo>
                <a:lnTo>
                  <a:pt x="2202106" y="362403"/>
                </a:lnTo>
                <a:lnTo>
                  <a:pt x="2147926" y="357988"/>
                </a:lnTo>
                <a:lnTo>
                  <a:pt x="2096080" y="358783"/>
                </a:lnTo>
                <a:lnTo>
                  <a:pt x="2044233" y="364352"/>
                </a:lnTo>
                <a:lnTo>
                  <a:pt x="1992387" y="373500"/>
                </a:lnTo>
                <a:lnTo>
                  <a:pt x="1940540" y="385036"/>
                </a:lnTo>
                <a:lnTo>
                  <a:pt x="1888694" y="397764"/>
                </a:lnTo>
                <a:lnTo>
                  <a:pt x="1836847" y="410492"/>
                </a:lnTo>
                <a:lnTo>
                  <a:pt x="1785001" y="422028"/>
                </a:lnTo>
                <a:lnTo>
                  <a:pt x="1733154" y="431176"/>
                </a:lnTo>
                <a:lnTo>
                  <a:pt x="1681308" y="436745"/>
                </a:lnTo>
                <a:lnTo>
                  <a:pt x="1629461" y="437540"/>
                </a:lnTo>
                <a:lnTo>
                  <a:pt x="1577615" y="433662"/>
                </a:lnTo>
                <a:lnTo>
                  <a:pt x="1525768" y="426403"/>
                </a:lnTo>
                <a:lnTo>
                  <a:pt x="1473922" y="416359"/>
                </a:lnTo>
                <a:lnTo>
                  <a:pt x="1422075" y="404128"/>
                </a:lnTo>
                <a:lnTo>
                  <a:pt x="1370229" y="390306"/>
                </a:lnTo>
                <a:lnTo>
                  <a:pt x="1318382" y="375489"/>
                </a:lnTo>
                <a:lnTo>
                  <a:pt x="1266536" y="360275"/>
                </a:lnTo>
                <a:lnTo>
                  <a:pt x="1214689" y="345259"/>
                </a:lnTo>
                <a:lnTo>
                  <a:pt x="1162843" y="331039"/>
                </a:lnTo>
                <a:lnTo>
                  <a:pt x="1110996" y="318211"/>
                </a:lnTo>
                <a:lnTo>
                  <a:pt x="1059483" y="306636"/>
                </a:lnTo>
                <a:lnTo>
                  <a:pt x="1008489" y="295618"/>
                </a:lnTo>
                <a:lnTo>
                  <a:pt x="957790" y="284918"/>
                </a:lnTo>
                <a:lnTo>
                  <a:pt x="907166" y="274298"/>
                </a:lnTo>
                <a:lnTo>
                  <a:pt x="856393" y="263519"/>
                </a:lnTo>
                <a:lnTo>
                  <a:pt x="805250" y="252341"/>
                </a:lnTo>
                <a:lnTo>
                  <a:pt x="753515" y="240528"/>
                </a:lnTo>
                <a:lnTo>
                  <a:pt x="700965" y="227839"/>
                </a:lnTo>
                <a:lnTo>
                  <a:pt x="647378" y="214037"/>
                </a:lnTo>
                <a:lnTo>
                  <a:pt x="592532" y="198882"/>
                </a:lnTo>
                <a:lnTo>
                  <a:pt x="533612" y="181321"/>
                </a:lnTo>
                <a:lnTo>
                  <a:pt x="469285" y="161015"/>
                </a:lnTo>
                <a:lnTo>
                  <a:pt x="401551" y="138800"/>
                </a:lnTo>
                <a:lnTo>
                  <a:pt x="332410" y="115511"/>
                </a:lnTo>
                <a:lnTo>
                  <a:pt x="263862" y="91983"/>
                </a:lnTo>
                <a:lnTo>
                  <a:pt x="197906" y="69052"/>
                </a:lnTo>
                <a:lnTo>
                  <a:pt x="136542" y="47553"/>
                </a:lnTo>
                <a:lnTo>
                  <a:pt x="81770" y="28321"/>
                </a:lnTo>
                <a:lnTo>
                  <a:pt x="35589" y="12191"/>
                </a:lnTo>
                <a:lnTo>
                  <a:pt x="0" y="0"/>
                </a:lnTo>
              </a:path>
            </a:pathLst>
          </a:custGeom>
          <a:noFill/>
          <a:ln w="20320">
            <a:solidFill>
              <a:srgbClr val="7FB8D0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5044745" y="3523183"/>
            <a:ext cx="888797" cy="676199"/>
          </a:xfrm>
          <a:custGeom>
            <a:avLst/>
            <a:gdLst/>
            <a:ahLst/>
            <a:cxnLst/>
            <a:rect l="l" t="t" r="r" b="b"/>
            <a:pathLst>
              <a:path w="888797" h="676199">
                <a:moveTo>
                  <a:pt x="0" y="676199"/>
                </a:moveTo>
                <a:lnTo>
                  <a:pt x="26442" y="654720"/>
                </a:lnTo>
                <a:lnTo>
                  <a:pt x="60438" y="626876"/>
                </a:lnTo>
                <a:lnTo>
                  <a:pt x="100656" y="593862"/>
                </a:lnTo>
                <a:lnTo>
                  <a:pt x="145762" y="556870"/>
                </a:lnTo>
                <a:lnTo>
                  <a:pt x="194424" y="517093"/>
                </a:lnTo>
                <a:lnTo>
                  <a:pt x="245308" y="475726"/>
                </a:lnTo>
                <a:lnTo>
                  <a:pt x="297080" y="433961"/>
                </a:lnTo>
                <a:lnTo>
                  <a:pt x="348408" y="392991"/>
                </a:lnTo>
                <a:lnTo>
                  <a:pt x="397959" y="354010"/>
                </a:lnTo>
                <a:lnTo>
                  <a:pt x="444398" y="318211"/>
                </a:lnTo>
                <a:lnTo>
                  <a:pt x="490838" y="283347"/>
                </a:lnTo>
                <a:lnTo>
                  <a:pt x="540388" y="246932"/>
                </a:lnTo>
                <a:lnTo>
                  <a:pt x="591716" y="209801"/>
                </a:lnTo>
                <a:lnTo>
                  <a:pt x="643489" y="172789"/>
                </a:lnTo>
                <a:lnTo>
                  <a:pt x="694372" y="136732"/>
                </a:lnTo>
                <a:lnTo>
                  <a:pt x="743034" y="102464"/>
                </a:lnTo>
                <a:lnTo>
                  <a:pt x="788140" y="70822"/>
                </a:lnTo>
                <a:lnTo>
                  <a:pt x="828358" y="42641"/>
                </a:lnTo>
                <a:lnTo>
                  <a:pt x="862355" y="18755"/>
                </a:lnTo>
                <a:lnTo>
                  <a:pt x="888797" y="0"/>
                </a:lnTo>
              </a:path>
            </a:pathLst>
          </a:custGeom>
          <a:noFill/>
          <a:ln w="20320">
            <a:solidFill>
              <a:srgbClr val="7FB8D0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963259" y="2313660"/>
            <a:ext cx="310896" cy="310896"/>
          </a:xfrm>
          <a:prstGeom prst="ellipse">
            <a:avLst/>
          </a:prstGeom>
          <a:solidFill>
            <a:srgbClr val="5BD6C6">
              <a:alpha val="16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022695" y="2373096"/>
            <a:ext cx="192024" cy="192024"/>
          </a:xfrm>
          <a:prstGeom prst="ellipse">
            <a:avLst/>
          </a:prstGeom>
          <a:solidFill>
            <a:srgbClr val="5BD6C6"/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22695" y="2393213"/>
            <a:ext cx="192024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50F1B"/>
                </a:solidFill>
                <a:latin typeface="Segoe UI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3111703" y="4242816"/>
            <a:ext cx="310896" cy="310896"/>
          </a:xfrm>
          <a:prstGeom prst="ellipse">
            <a:avLst/>
          </a:prstGeom>
          <a:solidFill>
            <a:srgbClr val="5BD6C6">
              <a:alpha val="16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71139" y="4302252"/>
            <a:ext cx="192024" cy="192024"/>
          </a:xfrm>
          <a:prstGeom prst="ellipse">
            <a:avLst/>
          </a:prstGeom>
          <a:solidFill>
            <a:srgbClr val="5BD6C6"/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71139" y="4322368"/>
            <a:ext cx="192024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50F1B"/>
                </a:solidFill>
                <a:latin typeface="Segoe UI"/>
              </a:rPr>
              <a:t>2</a:t>
            </a:r>
          </a:p>
        </p:txBody>
      </p:sp>
      <p:sp>
        <p:nvSpPr>
          <p:cNvPr id="16" name="Oval 15"/>
          <p:cNvSpPr/>
          <p:nvPr/>
        </p:nvSpPr>
        <p:spPr>
          <a:xfrm>
            <a:off x="4037533" y="3506952"/>
            <a:ext cx="310896" cy="310896"/>
          </a:xfrm>
          <a:prstGeom prst="ellipse">
            <a:avLst/>
          </a:prstGeom>
          <a:solidFill>
            <a:srgbClr val="5BD6C6">
              <a:alpha val="16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096969" y="3566388"/>
            <a:ext cx="192024" cy="192024"/>
          </a:xfrm>
          <a:prstGeom prst="ellipse">
            <a:avLst/>
          </a:prstGeom>
          <a:solidFill>
            <a:srgbClr val="5BD6C6"/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96969" y="3586505"/>
            <a:ext cx="192024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50F1B"/>
                </a:solidFill>
                <a:latin typeface="Segoe UI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4926330" y="2790977"/>
            <a:ext cx="310896" cy="310896"/>
          </a:xfrm>
          <a:prstGeom prst="ellipse">
            <a:avLst/>
          </a:prstGeom>
          <a:solidFill>
            <a:srgbClr val="5BD6C6">
              <a:alpha val="16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985766" y="2850413"/>
            <a:ext cx="192024" cy="192024"/>
          </a:xfrm>
          <a:prstGeom prst="ellipse">
            <a:avLst/>
          </a:prstGeom>
          <a:solidFill>
            <a:srgbClr val="5BD6C6"/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85766" y="2870530"/>
            <a:ext cx="192024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50F1B"/>
                </a:solidFill>
                <a:latin typeface="Segoe UI"/>
              </a:rPr>
              <a:t>4</a:t>
            </a:r>
          </a:p>
        </p:txBody>
      </p:sp>
      <p:sp>
        <p:nvSpPr>
          <p:cNvPr id="22" name="Oval 21"/>
          <p:cNvSpPr/>
          <p:nvPr/>
        </p:nvSpPr>
        <p:spPr>
          <a:xfrm>
            <a:off x="4000500" y="5237226"/>
            <a:ext cx="310896" cy="310896"/>
          </a:xfrm>
          <a:prstGeom prst="ellipse">
            <a:avLst/>
          </a:prstGeom>
          <a:solidFill>
            <a:srgbClr val="5BD6C6">
              <a:alpha val="16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059935" y="5296662"/>
            <a:ext cx="192024" cy="192024"/>
          </a:xfrm>
          <a:prstGeom prst="ellipse">
            <a:avLst/>
          </a:prstGeom>
          <a:solidFill>
            <a:srgbClr val="5BD6C6"/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59935" y="5316778"/>
            <a:ext cx="192024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50F1B"/>
                </a:solidFill>
                <a:latin typeface="Segoe UI"/>
              </a:rPr>
              <a:t>5</a:t>
            </a:r>
          </a:p>
        </p:txBody>
      </p:sp>
      <p:sp>
        <p:nvSpPr>
          <p:cNvPr id="25" name="Oval 24"/>
          <p:cNvSpPr/>
          <p:nvPr/>
        </p:nvSpPr>
        <p:spPr>
          <a:xfrm>
            <a:off x="5370728" y="3447288"/>
            <a:ext cx="310896" cy="310896"/>
          </a:xfrm>
          <a:prstGeom prst="ellipse">
            <a:avLst/>
          </a:prstGeom>
          <a:solidFill>
            <a:srgbClr val="E7B67A">
              <a:alpha val="16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430164" y="3506724"/>
            <a:ext cx="192024" cy="192024"/>
          </a:xfrm>
          <a:prstGeom prst="ellipse">
            <a:avLst/>
          </a:prstGeom>
          <a:solidFill>
            <a:srgbClr val="E7B67A"/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30164" y="3526840"/>
            <a:ext cx="192024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50F1B"/>
                </a:solidFill>
                <a:latin typeface="Segoe UI"/>
              </a:rPr>
              <a:t>6</a:t>
            </a:r>
          </a:p>
        </p:txBody>
      </p:sp>
      <p:sp>
        <p:nvSpPr>
          <p:cNvPr id="28" name="Oval 27"/>
          <p:cNvSpPr/>
          <p:nvPr/>
        </p:nvSpPr>
        <p:spPr>
          <a:xfrm>
            <a:off x="2482138" y="4700244"/>
            <a:ext cx="310896" cy="310896"/>
          </a:xfrm>
          <a:prstGeom prst="ellipse">
            <a:avLst/>
          </a:prstGeom>
          <a:solidFill>
            <a:srgbClr val="E7B67A">
              <a:alpha val="16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541574" y="4759680"/>
            <a:ext cx="192024" cy="192024"/>
          </a:xfrm>
          <a:prstGeom prst="ellipse">
            <a:avLst/>
          </a:prstGeom>
          <a:solidFill>
            <a:srgbClr val="E7B67A"/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41574" y="4779797"/>
            <a:ext cx="192024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50F1B"/>
                </a:solidFill>
                <a:latin typeface="Segoe UI"/>
              </a:rPr>
              <a:t>7</a:t>
            </a:r>
          </a:p>
        </p:txBody>
      </p:sp>
      <p:sp>
        <p:nvSpPr>
          <p:cNvPr id="31" name="Oval 30"/>
          <p:cNvSpPr/>
          <p:nvPr/>
        </p:nvSpPr>
        <p:spPr>
          <a:xfrm>
            <a:off x="3000603" y="4938903"/>
            <a:ext cx="310896" cy="310896"/>
          </a:xfrm>
          <a:prstGeom prst="ellipse">
            <a:avLst/>
          </a:prstGeom>
          <a:solidFill>
            <a:srgbClr val="E7B67A">
              <a:alpha val="16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060039" y="4998339"/>
            <a:ext cx="192024" cy="192024"/>
          </a:xfrm>
          <a:prstGeom prst="ellipse">
            <a:avLst/>
          </a:prstGeom>
          <a:solidFill>
            <a:srgbClr val="E7B67A"/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60039" y="5018455"/>
            <a:ext cx="192024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50F1B"/>
                </a:solidFill>
                <a:latin typeface="Segoe UI"/>
              </a:rPr>
              <a:t>8</a:t>
            </a:r>
          </a:p>
        </p:txBody>
      </p:sp>
      <p:sp>
        <p:nvSpPr>
          <p:cNvPr id="34" name="Oval 33"/>
          <p:cNvSpPr/>
          <p:nvPr/>
        </p:nvSpPr>
        <p:spPr>
          <a:xfrm>
            <a:off x="5222595" y="4043934"/>
            <a:ext cx="310896" cy="310896"/>
          </a:xfrm>
          <a:prstGeom prst="ellipse">
            <a:avLst/>
          </a:prstGeom>
          <a:solidFill>
            <a:srgbClr val="C9E4EE">
              <a:alpha val="16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282031" y="4103370"/>
            <a:ext cx="192024" cy="192024"/>
          </a:xfrm>
          <a:prstGeom prst="ellipse">
            <a:avLst/>
          </a:prstGeom>
          <a:solidFill>
            <a:srgbClr val="C9E4EE"/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82031" y="4123486"/>
            <a:ext cx="192024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50F1B"/>
                </a:solidFill>
                <a:latin typeface="Segoe UI"/>
              </a:rPr>
              <a:t>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6135624"/>
            <a:ext cx="740664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3B3C3"/>
                </a:solidFill>
                <a:latin typeface="Segoe UI"/>
              </a:rPr>
              <a:t>Схема не в масштабе. Пунктир — Тиманский кряж, светлые линии — Печора, Вычегда, Уса.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0" y="1682496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200">
                <a:solidFill>
                  <a:srgbClr val="5BD6C6"/>
                </a:solidFill>
                <a:latin typeface="Segoe UI"/>
              </a:rPr>
              <a:t>ИНДЕКС МОРЕЙ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78240" y="1956816"/>
            <a:ext cx="2651760" cy="7315"/>
          </a:xfrm>
          <a:prstGeom prst="rect">
            <a:avLst/>
          </a:prstGeom>
          <a:solidFill>
            <a:srgbClr val="F4FAFC">
              <a:alpha val="16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796528" y="2194560"/>
            <a:ext cx="68580" cy="68580"/>
          </a:xfrm>
          <a:prstGeom prst="ellipse">
            <a:avLst/>
          </a:prstGeom>
          <a:solidFill>
            <a:srgbClr val="5BD6C6"/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19" y="2121408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30">
                <a:solidFill>
                  <a:srgbClr val="93B3C3"/>
                </a:solidFill>
                <a:latin typeface="Segoe UI"/>
              </a:rPr>
              <a:t>01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90304" y="2112263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4FAFC"/>
                </a:solidFill>
                <a:latin typeface="Segoe UI"/>
              </a:rPr>
              <a:t>Печорское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95560" y="2121408"/>
            <a:ext cx="123444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3B3C3"/>
                </a:solidFill>
                <a:latin typeface="Segoe UI"/>
              </a:rPr>
              <a:t>1809 км</a:t>
            </a:r>
          </a:p>
        </p:txBody>
      </p:sp>
      <p:sp>
        <p:nvSpPr>
          <p:cNvPr id="44" name="Oval 43"/>
          <p:cNvSpPr/>
          <p:nvPr/>
        </p:nvSpPr>
        <p:spPr>
          <a:xfrm>
            <a:off x="8796528" y="2537460"/>
            <a:ext cx="68580" cy="68580"/>
          </a:xfrm>
          <a:prstGeom prst="ellipse">
            <a:avLst/>
          </a:prstGeom>
          <a:solidFill>
            <a:srgbClr val="5BD6C6"/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19" y="2464308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30">
                <a:solidFill>
                  <a:srgbClr val="93B3C3"/>
                </a:solidFill>
                <a:latin typeface="Segoe UI"/>
              </a:rP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90304" y="2455163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4FAFC"/>
                </a:solidFill>
                <a:latin typeface="Segoe UI"/>
              </a:rPr>
              <a:t>Коми море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95560" y="2464308"/>
            <a:ext cx="123444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3B3C3"/>
                </a:solidFill>
                <a:latin typeface="Segoe UI"/>
              </a:rPr>
              <a:t>28,5 км²</a:t>
            </a:r>
          </a:p>
        </p:txBody>
      </p:sp>
      <p:sp>
        <p:nvSpPr>
          <p:cNvPr id="48" name="Oval 47"/>
          <p:cNvSpPr/>
          <p:nvPr/>
        </p:nvSpPr>
        <p:spPr>
          <a:xfrm>
            <a:off x="8796528" y="2880360"/>
            <a:ext cx="68580" cy="68580"/>
          </a:xfrm>
          <a:prstGeom prst="ellipse">
            <a:avLst/>
          </a:prstGeom>
          <a:solidFill>
            <a:srgbClr val="5BD6C6"/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61119" y="2807208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30">
                <a:solidFill>
                  <a:srgbClr val="93B3C3"/>
                </a:solidFill>
                <a:latin typeface="Segoe UI"/>
              </a:rPr>
              <a:t>03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90304" y="2798063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4FAFC"/>
                </a:solidFill>
                <a:latin typeface="Segoe UI"/>
              </a:rPr>
              <a:t>Ямское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95560" y="2807208"/>
            <a:ext cx="123444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3B3C3"/>
                </a:solidFill>
                <a:latin typeface="Segoe UI"/>
              </a:rPr>
              <a:t>31,1 км²</a:t>
            </a:r>
          </a:p>
        </p:txBody>
      </p:sp>
      <p:sp>
        <p:nvSpPr>
          <p:cNvPr id="52" name="Oval 51"/>
          <p:cNvSpPr/>
          <p:nvPr/>
        </p:nvSpPr>
        <p:spPr>
          <a:xfrm>
            <a:off x="8796528" y="3223260"/>
            <a:ext cx="68580" cy="68580"/>
          </a:xfrm>
          <a:prstGeom prst="ellipse">
            <a:avLst/>
          </a:prstGeom>
          <a:solidFill>
            <a:srgbClr val="5BD6C6"/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961119" y="3150108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30">
                <a:solidFill>
                  <a:srgbClr val="93B3C3"/>
                </a:solidFill>
                <a:latin typeface="Segoe UI"/>
              </a:rPr>
              <a:t>04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90304" y="3140963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4FAFC"/>
                </a:solidFill>
                <a:latin typeface="Segoe UI"/>
              </a:rPr>
              <a:t>Косминское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95560" y="3150108"/>
            <a:ext cx="123444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3B3C3"/>
                </a:solidFill>
                <a:latin typeface="Segoe UI"/>
              </a:rPr>
              <a:t>12,6 км²</a:t>
            </a:r>
          </a:p>
        </p:txBody>
      </p:sp>
      <p:sp>
        <p:nvSpPr>
          <p:cNvPr id="56" name="Oval 55"/>
          <p:cNvSpPr/>
          <p:nvPr/>
        </p:nvSpPr>
        <p:spPr>
          <a:xfrm>
            <a:off x="8796528" y="3566160"/>
            <a:ext cx="68580" cy="68580"/>
          </a:xfrm>
          <a:prstGeom prst="ellipse">
            <a:avLst/>
          </a:prstGeom>
          <a:solidFill>
            <a:srgbClr val="5BD6C6"/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961119" y="3493008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30">
                <a:solidFill>
                  <a:srgbClr val="93B3C3"/>
                </a:solidFill>
                <a:latin typeface="Segoe UI"/>
              </a:rPr>
              <a:t>05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90304" y="3483863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4FAFC"/>
                </a:solidFill>
                <a:latin typeface="Segoe UI"/>
              </a:rPr>
              <a:t>Донты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195560" y="3493008"/>
            <a:ext cx="123444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3B3C3"/>
                </a:solidFill>
                <a:latin typeface="Segoe UI"/>
              </a:rPr>
              <a:t>реликт</a:t>
            </a:r>
          </a:p>
        </p:txBody>
      </p:sp>
      <p:sp>
        <p:nvSpPr>
          <p:cNvPr id="60" name="Oval 59"/>
          <p:cNvSpPr/>
          <p:nvPr/>
        </p:nvSpPr>
        <p:spPr>
          <a:xfrm>
            <a:off x="8796528" y="3909059"/>
            <a:ext cx="68580" cy="68580"/>
          </a:xfrm>
          <a:prstGeom prst="ellipse">
            <a:avLst/>
          </a:prstGeom>
          <a:solidFill>
            <a:srgbClr val="E7B67A"/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61119" y="3835907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30">
                <a:solidFill>
                  <a:srgbClr val="93B3C3"/>
                </a:solidFill>
                <a:latin typeface="Segoe UI"/>
              </a:rPr>
              <a:t>06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90304" y="3826763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4FAFC"/>
                </a:solidFill>
                <a:latin typeface="Segoe UI"/>
              </a:rPr>
              <a:t>Печорское наливное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95560" y="3835907"/>
            <a:ext cx="123444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3B3C3"/>
                </a:solidFill>
                <a:latin typeface="Segoe UI"/>
              </a:rPr>
              <a:t>5,74 км²</a:t>
            </a:r>
          </a:p>
        </p:txBody>
      </p:sp>
      <p:sp>
        <p:nvSpPr>
          <p:cNvPr id="64" name="Oval 63"/>
          <p:cNvSpPr/>
          <p:nvPr/>
        </p:nvSpPr>
        <p:spPr>
          <a:xfrm>
            <a:off x="8796528" y="4251959"/>
            <a:ext cx="68580" cy="68580"/>
          </a:xfrm>
          <a:prstGeom prst="ellipse">
            <a:avLst/>
          </a:prstGeom>
          <a:solidFill>
            <a:srgbClr val="E7B67A"/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961119" y="4178807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30">
                <a:solidFill>
                  <a:srgbClr val="93B3C3"/>
                </a:solidFill>
                <a:latin typeface="Segoe UI"/>
              </a:rPr>
              <a:t>07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290304" y="4169663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4FAFC"/>
                </a:solidFill>
                <a:latin typeface="Segoe UI"/>
              </a:rPr>
              <a:t>Нювчимское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195560" y="4178807"/>
            <a:ext cx="123444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3B3C3"/>
                </a:solidFill>
                <a:latin typeface="Segoe UI"/>
              </a:rPr>
              <a:t>1,72 км²</a:t>
            </a:r>
          </a:p>
        </p:txBody>
      </p:sp>
      <p:sp>
        <p:nvSpPr>
          <p:cNvPr id="68" name="Oval 67"/>
          <p:cNvSpPr/>
          <p:nvPr/>
        </p:nvSpPr>
        <p:spPr>
          <a:xfrm>
            <a:off x="8796528" y="4594859"/>
            <a:ext cx="68580" cy="68580"/>
          </a:xfrm>
          <a:prstGeom prst="ellipse">
            <a:avLst/>
          </a:prstGeom>
          <a:solidFill>
            <a:srgbClr val="E7B67A"/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961119" y="4521707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30">
                <a:solidFill>
                  <a:srgbClr val="93B3C3"/>
                </a:solidFill>
                <a:latin typeface="Segoe UI"/>
              </a:rPr>
              <a:t>08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290304" y="4512564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4FAFC"/>
                </a:solidFill>
                <a:latin typeface="Segoe UI"/>
              </a:rPr>
              <a:t>Кажимское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195560" y="4521707"/>
            <a:ext cx="123444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3B3C3"/>
                </a:solidFill>
                <a:latin typeface="Segoe UI"/>
              </a:rPr>
              <a:t>1,45 км²</a:t>
            </a:r>
          </a:p>
        </p:txBody>
      </p:sp>
      <p:sp>
        <p:nvSpPr>
          <p:cNvPr id="72" name="Oval 71"/>
          <p:cNvSpPr/>
          <p:nvPr/>
        </p:nvSpPr>
        <p:spPr>
          <a:xfrm>
            <a:off x="8796528" y="4937759"/>
            <a:ext cx="68580" cy="68580"/>
          </a:xfrm>
          <a:prstGeom prst="ellipse">
            <a:avLst/>
          </a:prstGeom>
          <a:solidFill>
            <a:srgbClr val="C9E4EE"/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961119" y="4864607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30">
                <a:solidFill>
                  <a:srgbClr val="93B3C3"/>
                </a:solidFill>
                <a:latin typeface="Segoe UI"/>
              </a:rPr>
              <a:t>09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290304" y="4855464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4FAFC"/>
                </a:solidFill>
                <a:latin typeface="Segoe UI"/>
              </a:rPr>
              <a:t>Океан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195560" y="4864607"/>
            <a:ext cx="123444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3B3C3"/>
                </a:solidFill>
                <a:latin typeface="Segoe UI"/>
              </a:rPr>
              <a:t>болото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778240" y="5650992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3B3C3"/>
                </a:solidFill>
                <a:latin typeface="Segoe UI"/>
              </a:rPr>
              <a:t>Зелёный — природные озёра.
Золотой — созданные человеком.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77240" y="6291072"/>
            <a:ext cx="10637215" cy="7315"/>
          </a:xfrm>
          <a:prstGeom prst="rect">
            <a:avLst/>
          </a:prstGeom>
          <a:solidFill>
            <a:srgbClr val="F4FAFC">
              <a:alpha val="12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77240" y="64282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180">
                <a:solidFill>
                  <a:srgbClr val="93B3C3"/>
                </a:solidFill>
                <a:latin typeface="Segoe UI"/>
              </a:rPr>
              <a:t>МОРЯ РЕСПУБЛИКИ КОМИ · АТЛАС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317175" y="6428232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 spc="180">
                <a:solidFill>
                  <a:srgbClr val="93B3C3"/>
                </a:solidFill>
                <a:latin typeface="Segoe UI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F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77240" y="-411480"/>
            <a:ext cx="13654698" cy="76809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3A63">
              <a:alpha val="34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50F1B">
                  <a:alpha val="94000"/>
                </a:srgbClr>
              </a:gs>
              <a:gs pos="42000">
                <a:srgbClr val="050F1B">
                  <a:alpha val="82720"/>
                </a:srgbClr>
              </a:gs>
              <a:gs pos="72000">
                <a:srgbClr val="050F1B">
                  <a:alpha val="0"/>
                </a:srgbClr>
              </a:gs>
            </a:gsLst>
            <a:lin ang="0" scaled="0"/>
          </a:gradFill>
          <a:ln w="0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240">
                <a:solidFill>
                  <a:srgbClr val="5BD6C6"/>
                </a:solidFill>
                <a:latin typeface="Segoe UI"/>
              </a:rPr>
              <a:t>04 · МОРЕ №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59536"/>
            <a:ext cx="5486400" cy="1371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>
                <a:solidFill>
                  <a:srgbClr val="F4FAFC"/>
                </a:solidFill>
                <a:latin typeface="Segoe UI Light"/>
              </a:rPr>
              <a:t>Печорское море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64208"/>
            <a:ext cx="576072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D6C6"/>
                </a:solidFill>
                <a:latin typeface="Segoe UI"/>
              </a:rPr>
              <a:t>1809 км, бассейн 322 000 км² — море с истоком и устьем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95728"/>
            <a:ext cx="5669280" cy="1554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9E4EE"/>
                </a:solidFill>
                <a:latin typeface="Segoe UI"/>
              </a:rPr>
              <a:t>Печора начинается ручьём на Северном Урале и заканчивается Печорской губой Баренцева моря. Всё, что между, — 1809 километров «моря»: плёсы, песчаные косы, старицы и луга, заливаемые в половодье.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41648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130">
                <a:solidFill>
                  <a:srgbClr val="E7B67A"/>
                </a:solidFill>
                <a:latin typeface="Segoe UI"/>
              </a:rPr>
              <a:t>КАК СОЗДАНО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03704" y="3995928"/>
            <a:ext cx="4187952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E4EE"/>
                </a:solidFill>
                <a:latin typeface="Segoe UI"/>
              </a:rPr>
              <a:t>Долина унаследована от древнего морского бассейна: ледник расширил её, послеледниковые воды наполнили.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73168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130">
                <a:solidFill>
                  <a:srgbClr val="E7B67A"/>
                </a:solidFill>
                <a:latin typeface="Segoe UI"/>
              </a:rPr>
              <a:t>ПОЧЕМУ «МОРЕ»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03704" y="4727448"/>
            <a:ext cx="4187952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E4EE"/>
                </a:solidFill>
                <a:latin typeface="Segoe UI"/>
              </a:rPr>
              <a:t>Полторы тысячи километров судоходного пути и ширина, которую не видно с берега.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504688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130">
                <a:solidFill>
                  <a:srgbClr val="E7B67A"/>
                </a:solidFill>
                <a:latin typeface="Segoe UI"/>
              </a:rPr>
              <a:t>ФАКТ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03704" y="5458968"/>
            <a:ext cx="4187952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E4EE"/>
                </a:solidFill>
                <a:latin typeface="Segoe UI"/>
              </a:rPr>
              <a:t>По Печоре ходили до Усть-Цильмы задолго до железных дорог: река была единственной дорогой на север.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6291072"/>
            <a:ext cx="10637215" cy="7315"/>
          </a:xfrm>
          <a:prstGeom prst="rect">
            <a:avLst/>
          </a:prstGeom>
          <a:solidFill>
            <a:srgbClr val="F4FAFC">
              <a:alpha val="12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64282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180">
                <a:solidFill>
                  <a:srgbClr val="93B3C3"/>
                </a:solidFill>
                <a:latin typeface="Segoe UI"/>
              </a:rPr>
              <a:t>МОРЯ РЕСПУБЛИКИ КОМИ · АТЛАС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17175" y="6428232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 spc="180">
                <a:solidFill>
                  <a:srgbClr val="93B3C3"/>
                </a:solidFill>
                <a:latin typeface="Segoe UI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F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88136" y="-411480"/>
            <a:ext cx="13654698" cy="76809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2258">
              <a:alpha val="44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50F1B">
                  <a:alpha val="94000"/>
                </a:srgbClr>
              </a:gs>
              <a:gs pos="42000">
                <a:srgbClr val="050F1B">
                  <a:alpha val="82720"/>
                </a:srgbClr>
              </a:gs>
              <a:gs pos="72000">
                <a:srgbClr val="050F1B">
                  <a:alpha val="0"/>
                </a:srgbClr>
              </a:gs>
            </a:gsLst>
            <a:lin ang="0" scaled="0"/>
          </a:gradFill>
          <a:ln w="0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240">
                <a:solidFill>
                  <a:srgbClr val="5BD6C6"/>
                </a:solidFill>
                <a:latin typeface="Segoe UI"/>
              </a:rPr>
              <a:t>05 · МОРЕ №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59536"/>
            <a:ext cx="5486400" cy="1371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>
                <a:solidFill>
                  <a:srgbClr val="F4FAFC"/>
                </a:solidFill>
                <a:latin typeface="Segoe UI Light"/>
              </a:rPr>
              <a:t>Коми море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64208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E7B67A"/>
                </a:solidFill>
                <a:latin typeface="Segoe UI"/>
              </a:rPr>
              <a:t>Синдорское озеро, 28,5 км² — второе по площади в республике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12848"/>
            <a:ext cx="56692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9E4EE"/>
                </a:solidFill>
                <a:latin typeface="Segoe UI"/>
              </a:rPr>
              <a:t>Озеро спрятано в тайге бассейна Выми, в тринадцати километрах от посёлка Синдор. На карте написано «озеро», у местных — «Коми море». Вода тёмная, как чай: торф и сосна по берегам.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813048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130">
                <a:solidFill>
                  <a:srgbClr val="5BD6C6"/>
                </a:solidFill>
                <a:latin typeface="Segoe UI"/>
              </a:rPr>
              <a:t>КАК СОЗДАНО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03704" y="3767328"/>
            <a:ext cx="4187952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E4EE"/>
                </a:solidFill>
                <a:latin typeface="Segoe UI"/>
              </a:rPr>
              <a:t>Остаток приледникового водоёма: ледник ушёл, торф поднял берега, озеро сузилось до 28,5 км².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90288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130">
                <a:solidFill>
                  <a:srgbClr val="5BD6C6"/>
                </a:solidFill>
                <a:latin typeface="Segoe UI"/>
              </a:rPr>
              <a:t>ПОЧЕМУ «МОРЕ»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03704" y="4544568"/>
            <a:ext cx="4187952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E4EE"/>
                </a:solidFill>
                <a:latin typeface="Segoe UI"/>
              </a:rPr>
              <a:t>Двенадцать километров в длину, низкие берега и волна от ветра: с лодки не видно, где кончается вода.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367527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130">
                <a:solidFill>
                  <a:srgbClr val="5BD6C6"/>
                </a:solidFill>
                <a:latin typeface="Segoe UI"/>
              </a:rPr>
              <a:t>ФАКТ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03704" y="5321807"/>
            <a:ext cx="4187952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E4EE"/>
                </a:solidFill>
                <a:latin typeface="Segoe UI"/>
              </a:rPr>
              <a:t>Без проводника и внедорожника к нему не добраться — и это лучшее, что с ним случилось.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6291072"/>
            <a:ext cx="10637215" cy="7315"/>
          </a:xfrm>
          <a:prstGeom prst="rect">
            <a:avLst/>
          </a:prstGeom>
          <a:solidFill>
            <a:srgbClr val="F4FAFC">
              <a:alpha val="12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64282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180">
                <a:solidFill>
                  <a:srgbClr val="93B3C3"/>
                </a:solidFill>
                <a:latin typeface="Segoe UI"/>
              </a:rPr>
              <a:t>МОРЯ РЕСПУБЛИКИ КОМИ · АТЛАС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17175" y="6428232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 spc="180">
                <a:solidFill>
                  <a:srgbClr val="93B3C3"/>
                </a:solidFill>
                <a:latin typeface="Segoe UI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667512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240">
                <a:solidFill>
                  <a:srgbClr val="5BD6C6"/>
                </a:solidFill>
                <a:latin typeface="Segoe UI"/>
              </a:rPr>
              <a:t>06 · МОРЯ № 3–4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59536"/>
            <a:ext cx="6675120" cy="1371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800" b="0" i="0">
                <a:solidFill>
                  <a:srgbClr val="F4FAFC"/>
                </a:solidFill>
                <a:latin typeface="Segoe UI Light"/>
              </a:rPr>
              <a:t>Тиманские моря:
Ямское и Косминское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26679" y="86868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9E4EE"/>
                </a:solidFill>
                <a:latin typeface="Segoe UI"/>
              </a:rPr>
              <a:t>Два самых северных природных моря атласа лежат на кряже, которому больше миллиарда лет.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77440"/>
            <a:ext cx="5120640" cy="2286000"/>
          </a:xfrm>
          <a:prstGeom prst="roundRect">
            <a:avLst>
              <a:gd name="adj" fmla="val 5500"/>
            </a:avLst>
          </a:prstGeom>
          <a:solidFill>
            <a:srgbClr val="102C3E">
              <a:alpha val="50000"/>
            </a:srgbClr>
          </a:solidFill>
          <a:ln w="12700">
            <a:solidFill>
              <a:srgbClr val="5BD6C6">
                <a:alpha val="14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1288" y="2615184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5BD6C6"/>
                </a:solidFill>
                <a:latin typeface="Segoe UI Light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596896"/>
            <a:ext cx="2651760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F4FAFC"/>
                </a:solidFill>
                <a:latin typeface="Segoe UI Light"/>
              </a:rPr>
              <a:t>Ямское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2670048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7B67A"/>
                </a:solidFill>
                <a:latin typeface="Segoe UI"/>
              </a:rPr>
              <a:t>31,1 км²</a:t>
            </a:r>
          </a:p>
        </p:txBody>
      </p:sp>
      <p:sp>
        <p:nvSpPr>
          <p:cNvPr id="9" name="Rectangle 8"/>
          <p:cNvSpPr/>
          <p:nvPr/>
        </p:nvSpPr>
        <p:spPr>
          <a:xfrm>
            <a:off x="1161288" y="3035808"/>
            <a:ext cx="4352544" cy="7315"/>
          </a:xfrm>
          <a:prstGeom prst="rect">
            <a:avLst/>
          </a:prstGeom>
          <a:solidFill>
            <a:srgbClr val="F4FAFC">
              <a:alpha val="14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3200400"/>
            <a:ext cx="4352544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9E4EE"/>
                </a:solidFill>
                <a:latin typeface="Segoe UI"/>
              </a:rPr>
              <a:t>Крупнейший природный водоём Коми. Лежит в понижении Тиманского кряжа между Четласским и Чайцинским камнями — как вода в каменной чаше.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2377440"/>
            <a:ext cx="5120640" cy="2286000"/>
          </a:xfrm>
          <a:prstGeom prst="roundRect">
            <a:avLst>
              <a:gd name="adj" fmla="val 5500"/>
            </a:avLst>
          </a:prstGeom>
          <a:solidFill>
            <a:srgbClr val="102C3E">
              <a:alpha val="50000"/>
            </a:srgbClr>
          </a:solidFill>
          <a:ln w="12700">
            <a:solidFill>
              <a:srgbClr val="5BD6C6">
                <a:alpha val="14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59" y="2615184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5BD6C6"/>
                </a:solidFill>
                <a:latin typeface="Segoe UI Light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68312" y="2596896"/>
            <a:ext cx="2651760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F4FAFC"/>
                </a:solidFill>
                <a:latin typeface="Segoe UI Light"/>
              </a:rPr>
              <a:t>Косминское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20072" y="2670048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7B67A"/>
                </a:solidFill>
                <a:latin typeface="Segoe UI"/>
              </a:rPr>
              <a:t>12,6 км²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59" y="3035808"/>
            <a:ext cx="4352544" cy="7315"/>
          </a:xfrm>
          <a:prstGeom prst="rect">
            <a:avLst/>
          </a:prstGeom>
          <a:solidFill>
            <a:srgbClr val="F4FAFC">
              <a:alpha val="14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59" y="3200400"/>
            <a:ext cx="4352544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9E4EE"/>
                </a:solidFill>
                <a:latin typeface="Segoe UI"/>
              </a:rPr>
              <a:t>Северный сосед и третий по площади. Котловину выпахал ледник, а разломы древнего кряжа задали ей форму и направление.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047488"/>
            <a:ext cx="576072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4FAFC"/>
                </a:solidFill>
                <a:latin typeface="Segoe UI Light"/>
              </a:rPr>
              <a:t>Тиман старше Урала. Воды в нём столько же, сколько было всегда, — меняются только берега.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5010912"/>
            <a:ext cx="4663440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3B3C3"/>
                </a:solidFill>
                <a:latin typeface="Segoe UI"/>
              </a:rPr>
              <a:t>Оба моря — ледниковые: холодные, прозрачные и очень медленно прогревающиеся. Купаться в них — отдельный вид спорта.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6291072"/>
            <a:ext cx="10637215" cy="7315"/>
          </a:xfrm>
          <a:prstGeom prst="rect">
            <a:avLst/>
          </a:prstGeom>
          <a:solidFill>
            <a:srgbClr val="F4FAFC">
              <a:alpha val="12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64282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180">
                <a:solidFill>
                  <a:srgbClr val="93B3C3"/>
                </a:solidFill>
                <a:latin typeface="Segoe UI"/>
              </a:rPr>
              <a:t>МОРЯ РЕСПУБЛИКИ КОМИ · АТЛАС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17175" y="6428232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 spc="180">
                <a:solidFill>
                  <a:srgbClr val="93B3C3"/>
                </a:solidFill>
                <a:latin typeface="Segoe UI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F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89304" y="-411480"/>
            <a:ext cx="13654698" cy="76809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B3A18">
              <a:alpha val="38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50F1B">
                  <a:alpha val="94000"/>
                </a:srgbClr>
              </a:gs>
              <a:gs pos="42000">
                <a:srgbClr val="050F1B">
                  <a:alpha val="82720"/>
                </a:srgbClr>
              </a:gs>
              <a:gs pos="72000">
                <a:srgbClr val="050F1B">
                  <a:alpha val="0"/>
                </a:srgbClr>
              </a:gs>
            </a:gsLst>
            <a:lin ang="0" scaled="0"/>
          </a:gradFill>
          <a:ln w="0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240">
                <a:solidFill>
                  <a:srgbClr val="5BD6C6"/>
                </a:solidFill>
                <a:latin typeface="Segoe UI"/>
              </a:rPr>
              <a:t>07 · МОРЕ №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59536"/>
            <a:ext cx="5486400" cy="1371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4FAFC"/>
                </a:solidFill>
                <a:latin typeface="Segoe UI Light"/>
              </a:rPr>
              <a:t>Донты — море,
помнящее мамонтов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66543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E7B67A"/>
                </a:solidFill>
                <a:latin typeface="Segoe UI"/>
              </a:rPr>
              <a:t>Реликтовое озеро на юге республики, в пойме Вычегды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51760"/>
            <a:ext cx="5577840" cy="1280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9E4EE"/>
                </a:solidFill>
                <a:latin typeface="Segoe UI"/>
              </a:rPr>
              <a:t>Донское, Донты, Дон — большое мелководное озеро в Усть-Куломском районе, соединённое протоками с Кадамом. Мелко, тепло, много жизни: рыба, птица и зыбкие сплавины по берегам.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242816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130">
                <a:solidFill>
                  <a:srgbClr val="5BD6C6"/>
                </a:solidFill>
                <a:latin typeface="Segoe UI"/>
              </a:rPr>
              <a:t>КАК СОЗДАНО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03704" y="4197096"/>
            <a:ext cx="416052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E4EE"/>
                </a:solidFill>
                <a:latin typeface="Segoe UI"/>
              </a:rPr>
              <a:t>Река бросила старицу, торф подпрудил её, вода осталась. Так рождается реликт — водоём, переживший своего создателя.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919472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130">
                <a:solidFill>
                  <a:srgbClr val="5BD6C6"/>
                </a:solidFill>
                <a:latin typeface="Segoe UI"/>
              </a:rPr>
              <a:t>ПОЧЕМУ «МОРЕ»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03704" y="4873752"/>
            <a:ext cx="416052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E4EE"/>
                </a:solidFill>
                <a:latin typeface="Segoe UI"/>
              </a:rPr>
              <a:t>Плёс уходит за горизонт, а противоположный берег — низкий, как у моря в отлив.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596128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130">
                <a:solidFill>
                  <a:srgbClr val="5BD6C6"/>
                </a:solidFill>
                <a:latin typeface="Segoe UI"/>
              </a:rPr>
              <a:t>ФАКТ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03704" y="5550408"/>
            <a:ext cx="416052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E4EE"/>
                </a:solidFill>
                <a:latin typeface="Segoe UI"/>
              </a:rPr>
              <a:t>По сплавине у берега можно «пройти по морю» — и это худшая идея в этом атласе.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6291072"/>
            <a:ext cx="10637215" cy="7315"/>
          </a:xfrm>
          <a:prstGeom prst="rect">
            <a:avLst/>
          </a:prstGeom>
          <a:solidFill>
            <a:srgbClr val="F4FAFC">
              <a:alpha val="12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64282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180">
                <a:solidFill>
                  <a:srgbClr val="93B3C3"/>
                </a:solidFill>
                <a:latin typeface="Segoe UI"/>
              </a:rPr>
              <a:t>МОРЯ РЕСПУБЛИКИ КОМИ · АТЛАС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17175" y="6428232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 spc="180">
                <a:solidFill>
                  <a:srgbClr val="93B3C3"/>
                </a:solidFill>
                <a:latin typeface="Segoe UI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240">
                <a:solidFill>
                  <a:srgbClr val="5BD6C6"/>
                </a:solidFill>
                <a:latin typeface="Segoe UI"/>
              </a:rPr>
              <a:t>08 · МОРЯ № 6–8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59536"/>
            <a:ext cx="10637215" cy="1371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4FAFC"/>
                </a:solidFill>
                <a:latin typeface="Segoe UI Light"/>
              </a:rPr>
              <a:t>Моря, которые построили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64208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3B3C3"/>
                </a:solidFill>
                <a:latin typeface="Segoe UI"/>
              </a:rPr>
              <a:t>Три моря Коми созданы человеком — и все три моложе шестидесяти лет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084831"/>
            <a:ext cx="3337560" cy="3017520"/>
          </a:xfrm>
          <a:prstGeom prst="roundRect">
            <a:avLst>
              <a:gd name="adj" fmla="val 6000"/>
            </a:avLst>
          </a:prstGeom>
          <a:solidFill>
            <a:srgbClr val="102C3E">
              <a:alpha val="52000"/>
            </a:srgbClr>
          </a:solidFill>
          <a:ln w="12700">
            <a:solidFill>
              <a:srgbClr val="E7B67A">
                <a:alpha val="18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" y="2322576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E7B67A"/>
                </a:solidFill>
                <a:latin typeface="Segoe UI"/>
              </a:rPr>
              <a:t>МОРЕ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" y="2615184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4FAFC"/>
                </a:solidFill>
                <a:latin typeface="Segoe UI Light"/>
              </a:rPr>
              <a:t>Печорское наливное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" y="3182112"/>
            <a:ext cx="2743200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5BD6C6"/>
                </a:solidFill>
                <a:latin typeface="Segoe UI Light"/>
              </a:rPr>
              <a:t>5,74 км²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" y="3694176"/>
            <a:ext cx="2697480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E4EE"/>
                </a:solidFill>
                <a:latin typeface="Segoe UI"/>
              </a:rPr>
              <a:t>Водоём-охладитель Печорской ГРЭС. Наливное: воду подают насосами из Печоры. Работает в замкнутом цикле и не замерзает даже в январе.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88136" y="4846320"/>
            <a:ext cx="2697480" cy="7315"/>
          </a:xfrm>
          <a:prstGeom prst="rect">
            <a:avLst/>
          </a:prstGeom>
          <a:solidFill>
            <a:srgbClr val="F4FAFC">
              <a:alpha val="12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8136" y="4937760"/>
            <a:ext cx="26974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93B3C3"/>
                </a:solidFill>
                <a:latin typeface="Segoe UI"/>
              </a:rPr>
              <a:t>СОЗДАНО: 1974–1979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5696" y="2084831"/>
            <a:ext cx="3337560" cy="3017520"/>
          </a:xfrm>
          <a:prstGeom prst="roundRect">
            <a:avLst>
              <a:gd name="adj" fmla="val 6000"/>
            </a:avLst>
          </a:prstGeom>
          <a:solidFill>
            <a:srgbClr val="102C3E">
              <a:alpha val="52000"/>
            </a:srgbClr>
          </a:solidFill>
          <a:ln w="12700">
            <a:solidFill>
              <a:srgbClr val="E7B67A">
                <a:alpha val="18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36592" y="2322576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E7B67A"/>
                </a:solidFill>
                <a:latin typeface="Segoe UI"/>
              </a:rPr>
              <a:t>МОРЕ 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2615184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4FAFC"/>
                </a:solidFill>
                <a:latin typeface="Segoe UI Light"/>
              </a:rPr>
              <a:t>Нювчимское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3182112"/>
            <a:ext cx="2743200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5BD6C6"/>
                </a:solidFill>
                <a:latin typeface="Segoe UI Light"/>
              </a:rPr>
              <a:t>1,72 км²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3694176"/>
            <a:ext cx="2697480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E4EE"/>
                </a:solidFill>
                <a:latin typeface="Segoe UI"/>
              </a:rPr>
              <a:t>Плотина на реке Нювчим, правом притоке Сысолы. Малое море с большой историей — рядом старый заводской посёлок.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36592" y="4846320"/>
            <a:ext cx="2697480" cy="7315"/>
          </a:xfrm>
          <a:prstGeom prst="rect">
            <a:avLst/>
          </a:prstGeom>
          <a:solidFill>
            <a:srgbClr val="F4FAFC">
              <a:alpha val="12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36592" y="4937760"/>
            <a:ext cx="26974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93B3C3"/>
                </a:solidFill>
                <a:latin typeface="Segoe UI"/>
              </a:rPr>
              <a:t>СОЗДАНО: XX век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4152" y="2084831"/>
            <a:ext cx="3337560" cy="3017520"/>
          </a:xfrm>
          <a:prstGeom prst="roundRect">
            <a:avLst>
              <a:gd name="adj" fmla="val 6000"/>
            </a:avLst>
          </a:prstGeom>
          <a:solidFill>
            <a:srgbClr val="102C3E">
              <a:alpha val="52000"/>
            </a:srgbClr>
          </a:solidFill>
          <a:ln w="12700">
            <a:solidFill>
              <a:srgbClr val="E7B67A">
                <a:alpha val="18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5048" y="2322576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E7B67A"/>
                </a:solidFill>
                <a:latin typeface="Segoe UI"/>
              </a:rPr>
              <a:t>МОРЕ 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2615184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4FAFC"/>
                </a:solidFill>
                <a:latin typeface="Segoe UI Light"/>
              </a:rPr>
              <a:t>Кажимское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5048" y="3182112"/>
            <a:ext cx="2743200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5BD6C6"/>
                </a:solidFill>
                <a:latin typeface="Segoe UI Light"/>
              </a:rPr>
              <a:t>1,45 км²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5048" y="3694176"/>
            <a:ext cx="2697480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E4EE"/>
                </a:solidFill>
                <a:latin typeface="Segoe UI"/>
              </a:rPr>
              <a:t>Плотина на Кажиме, в том же бассейне. Самое маленькое море атласа и, пожалуй, самое уютное.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85048" y="4846320"/>
            <a:ext cx="2697480" cy="7315"/>
          </a:xfrm>
          <a:prstGeom prst="rect">
            <a:avLst/>
          </a:prstGeom>
          <a:solidFill>
            <a:srgbClr val="F4FAFC">
              <a:alpha val="12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5048" y="4937760"/>
            <a:ext cx="26974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93B3C3"/>
                </a:solidFill>
                <a:latin typeface="Segoe UI"/>
              </a:rPr>
              <a:t>СОЗДАНО: XX век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413248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3B3C3"/>
                </a:solidFill>
                <a:latin typeface="Segoe UI"/>
              </a:rPr>
              <a:t>В сумме рукотворные моря Коми — меньше девяти квадратных километров. Человеку здесь море даётся дорого; природе оно досталось вместе с ледником.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6291072"/>
            <a:ext cx="10637215" cy="7315"/>
          </a:xfrm>
          <a:prstGeom prst="rect">
            <a:avLst/>
          </a:prstGeom>
          <a:solidFill>
            <a:srgbClr val="F4FAFC">
              <a:alpha val="12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64282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180">
                <a:solidFill>
                  <a:srgbClr val="93B3C3"/>
                </a:solidFill>
                <a:latin typeface="Segoe UI"/>
              </a:rPr>
              <a:t>МОРЯ РЕСПУБЛИКИ КОМИ · АТЛАС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17175" y="6428232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 spc="180">
                <a:solidFill>
                  <a:srgbClr val="93B3C3"/>
                </a:solidFill>
                <a:latin typeface="Segoe UI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F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53895" y="-411480"/>
            <a:ext cx="13654698" cy="76809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C9AA8">
              <a:alpha val="26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50F1B">
                  <a:alpha val="94000"/>
                </a:srgbClr>
              </a:gs>
              <a:gs pos="42000">
                <a:srgbClr val="050F1B">
                  <a:alpha val="82720"/>
                </a:srgbClr>
              </a:gs>
              <a:gs pos="72000">
                <a:srgbClr val="050F1B">
                  <a:alpha val="0"/>
                </a:srgbClr>
              </a:gs>
            </a:gsLst>
            <a:lin ang="0" scaled="0"/>
          </a:gradFill>
          <a:ln w="0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240">
                <a:solidFill>
                  <a:srgbClr val="5BD6C6"/>
                </a:solidFill>
                <a:latin typeface="Segoe UI"/>
              </a:rPr>
              <a:t>09 · ОКЕАН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59536"/>
            <a:ext cx="5486400" cy="1371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4FAFC"/>
                </a:solidFill>
                <a:latin typeface="Segoe UI Light"/>
              </a:rPr>
              <a:t>Океан, по которому
ходят пешком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66543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E7B67A"/>
                </a:solidFill>
                <a:latin typeface="Segoe UI"/>
              </a:rPr>
              <a:t>Болото Океан — одно из крупнейших в Европе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51760"/>
            <a:ext cx="5669280" cy="1280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9E4EE"/>
                </a:solidFill>
                <a:latin typeface="Segoe UI"/>
              </a:rPr>
              <a:t>Болота занимают 9,8 % республики — около 40 700 км². Океан и Усинское — две крупнейшие болотные системы Европы. Волн нет, но вода под ногами помнит ледник.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858768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130">
                <a:solidFill>
                  <a:srgbClr val="5BD6C6"/>
                </a:solidFill>
                <a:latin typeface="Segoe UI"/>
              </a:rPr>
              <a:t>КАК СОЗДАНО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03704" y="3813048"/>
            <a:ext cx="416052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E4EE"/>
                </a:solidFill>
                <a:latin typeface="Segoe UI"/>
              </a:rPr>
              <a:t>Послеледниковое заболачивание: торф нарастает на миллиметр в год — «океан» растёт десять тысяч лет.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130">
                <a:solidFill>
                  <a:srgbClr val="5BD6C6"/>
                </a:solidFill>
                <a:latin typeface="Segoe UI"/>
              </a:rPr>
              <a:t>ПОЧЕМУ «ОКЕАН»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03704" y="4526280"/>
            <a:ext cx="416052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E4EE"/>
                </a:solidFill>
                <a:latin typeface="Segoe UI"/>
              </a:rPr>
              <a:t>Площадь, через которую не видно края, и вода под ногами. Название дали те, кто здесь ходил.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285232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130">
                <a:solidFill>
                  <a:srgbClr val="5BD6C6"/>
                </a:solidFill>
                <a:latin typeface="Segoe UI"/>
              </a:rPr>
              <a:t>ФАКТ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03704" y="5239512"/>
            <a:ext cx="416052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E4EE"/>
                </a:solidFill>
                <a:latin typeface="Segoe UI"/>
              </a:rPr>
              <a:t>Болото — не суша и не вода. Север придумал третье состояние и живёт в нём полгода.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6291072"/>
            <a:ext cx="10637215" cy="7315"/>
          </a:xfrm>
          <a:prstGeom prst="rect">
            <a:avLst/>
          </a:prstGeom>
          <a:solidFill>
            <a:srgbClr val="F4FAFC">
              <a:alpha val="12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64282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180">
                <a:solidFill>
                  <a:srgbClr val="93B3C3"/>
                </a:solidFill>
                <a:latin typeface="Segoe UI"/>
              </a:rPr>
              <a:t>МОРЯ РЕСПУБЛИКИ КОМИ · АТЛАС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17175" y="6428232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 spc="180">
                <a:solidFill>
                  <a:srgbClr val="93B3C3"/>
                </a:solidFill>
                <a:latin typeface="Segoe U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240">
                <a:solidFill>
                  <a:srgbClr val="5BD6C6"/>
                </a:solidFill>
                <a:latin typeface="Segoe UI"/>
              </a:rPr>
              <a:t>10 · МЕХАНИКА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59536"/>
            <a:ext cx="10637215" cy="1371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4FAFC"/>
                </a:solidFill>
                <a:latin typeface="Segoe UI Light"/>
              </a:rPr>
              <a:t>Четыре способа создать море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64208"/>
            <a:ext cx="896112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3B3C3"/>
                </a:solidFill>
                <a:latin typeface="Segoe UI"/>
              </a:rPr>
              <a:t>Всё, что нужно морю, — вода и место, где ей задержаться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40280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187F78"/>
                </a:solidFill>
                <a:latin typeface="Segoe UI Light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962656"/>
            <a:ext cx="2212848" cy="7315"/>
          </a:xfrm>
          <a:prstGeom prst="rect">
            <a:avLst/>
          </a:prstGeom>
          <a:solidFill>
            <a:srgbClr val="F4FAFC">
              <a:alpha val="16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10896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4FAFC"/>
                </a:solidFill>
                <a:latin typeface="Segoe UI Light"/>
              </a:rPr>
              <a:t>Лёд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547872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E4EE"/>
                </a:solidFill>
                <a:latin typeface="Segoe UI"/>
              </a:rPr>
              <a:t>Ледник выпахивает котловины и оставляет морены, которые подпруживают реки. Так появились Ямское и Косминское.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074920"/>
            <a:ext cx="22860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140">
                <a:solidFill>
                  <a:srgbClr val="E7B67A"/>
                </a:solidFill>
                <a:latin typeface="Segoe UI"/>
              </a:rPr>
              <a:t>10 000 ЛЕТ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240280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187F78"/>
                </a:solidFill>
                <a:latin typeface="Segoe UI Light"/>
              </a:rP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2962656"/>
            <a:ext cx="2212848" cy="7315"/>
          </a:xfrm>
          <a:prstGeom prst="rect">
            <a:avLst/>
          </a:prstGeom>
          <a:solidFill>
            <a:srgbClr val="F4FAFC">
              <a:alpha val="16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310896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4FAFC"/>
                </a:solidFill>
                <a:latin typeface="Segoe UI Light"/>
              </a:rPr>
              <a:t>Земля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547872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E4EE"/>
                </a:solidFill>
                <a:latin typeface="Segoe UI"/>
              </a:rPr>
              <a:t>Разломы и карст: вода растворяет известняки, уходит вниз и возвращается озером. Карстовые озёра — в бассейне Вычегды.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5074920"/>
            <a:ext cx="22860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140">
                <a:solidFill>
                  <a:srgbClr val="E7B67A"/>
                </a:solidFill>
                <a:latin typeface="Segoe UI"/>
              </a:rPr>
              <a:t>10 000 ЛЕТ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240280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187F78"/>
                </a:solidFill>
                <a:latin typeface="Segoe UI Light"/>
              </a:rPr>
              <a:t>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962656"/>
            <a:ext cx="2212848" cy="7315"/>
          </a:xfrm>
          <a:prstGeom prst="rect">
            <a:avLst/>
          </a:prstGeom>
          <a:solidFill>
            <a:srgbClr val="F4FAFC">
              <a:alpha val="16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310896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4FAFC"/>
                </a:solidFill>
                <a:latin typeface="Segoe UI Light"/>
              </a:rPr>
              <a:t>Река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547872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E4EE"/>
                </a:solidFill>
                <a:latin typeface="Segoe UI"/>
              </a:rPr>
              <a:t>Старицы, протоки, пойменные плёсы. Река создаёт моря побочным эффектом: бросила русло — получились Донты.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5074920"/>
            <a:ext cx="22860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140">
                <a:solidFill>
                  <a:srgbClr val="E7B67A"/>
                </a:solidFill>
                <a:latin typeface="Segoe UI"/>
              </a:rPr>
              <a:t>1 000 ЛЕТ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2240280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187F78"/>
                </a:solidFill>
                <a:latin typeface="Segoe UI Light"/>
              </a:rPr>
              <a:t>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6840" y="2962656"/>
            <a:ext cx="2212848" cy="7315"/>
          </a:xfrm>
          <a:prstGeom prst="rect">
            <a:avLst/>
          </a:prstGeom>
          <a:solidFill>
            <a:srgbClr val="F4FAFC">
              <a:alpha val="16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6840" y="310896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4FAFC"/>
                </a:solidFill>
                <a:latin typeface="Segoe UI Light"/>
              </a:rPr>
              <a:t>Человек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3547872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E4EE"/>
                </a:solidFill>
                <a:latin typeface="Segoe UI"/>
              </a:rPr>
              <a:t>Плотина, насос, канал. Пять лет работы — и 5,74 км² готовы. Единственный способ, укладывающийся в человеческую жизнь.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5074920"/>
            <a:ext cx="22860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140">
                <a:solidFill>
                  <a:srgbClr val="E7B67A"/>
                </a:solidFill>
                <a:latin typeface="Segoe UI"/>
              </a:rPr>
              <a:t>5 ЛЕТ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532120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3B3C3"/>
                </a:solidFill>
                <a:latin typeface="Segoe UI"/>
              </a:rPr>
              <a:t>Первые три способа работают в масштабе геологического времени. Четвёртый — в масштабе человеческой жизни, и потому кажется чудом.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6291072"/>
            <a:ext cx="10637215" cy="7315"/>
          </a:xfrm>
          <a:prstGeom prst="rect">
            <a:avLst/>
          </a:prstGeom>
          <a:solidFill>
            <a:srgbClr val="F4FAFC">
              <a:alpha val="12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64282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180">
                <a:solidFill>
                  <a:srgbClr val="93B3C3"/>
                </a:solidFill>
                <a:latin typeface="Segoe UI"/>
              </a:rPr>
              <a:t>МОРЯ РЕСПУБЛИКИ КОМИ · АТЛАС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17175" y="6428232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 spc="180">
                <a:solidFill>
                  <a:srgbClr val="93B3C3"/>
                </a:solidFill>
                <a:latin typeface="Segoe U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240">
                <a:solidFill>
                  <a:srgbClr val="5BD6C6"/>
                </a:solidFill>
                <a:latin typeface="Segoe UI"/>
              </a:rPr>
              <a:t>11 · ПАЛЕОЗОЙ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59536"/>
            <a:ext cx="10637215" cy="1371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4FAFC"/>
                </a:solidFill>
                <a:latin typeface="Segoe UI Light"/>
              </a:rPr>
              <a:t>Моря, которых уже нет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950976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3B3C3"/>
                </a:solidFill>
                <a:latin typeface="Segoe UI"/>
              </a:rPr>
              <a:t>Суша Коми — дно древних морей. Каждый раз, когда море уходило, оно оставляло новую породу.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3291840"/>
            <a:ext cx="9326880" cy="12801"/>
          </a:xfrm>
          <a:prstGeom prst="rect">
            <a:avLst/>
          </a:prstGeom>
          <a:solidFill>
            <a:srgbClr val="5BD6C6">
              <a:alpha val="30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11580" y="3236976"/>
            <a:ext cx="137160" cy="137160"/>
          </a:xfrm>
          <a:prstGeom prst="ellipse">
            <a:avLst/>
          </a:prstGeom>
          <a:solidFill>
            <a:srgbClr val="5BD6C6"/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" y="3159252"/>
            <a:ext cx="292608" cy="292608"/>
          </a:xfrm>
          <a:prstGeom prst="ellipse">
            <a:avLst/>
          </a:prstGeom>
          <a:solidFill>
            <a:srgbClr val="5BD6C6">
              <a:alpha val="10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59" y="2286000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E7B67A"/>
                </a:solidFill>
                <a:latin typeface="Segoe UI Light"/>
              </a:rPr>
              <a:t>470 млн</a:t>
            </a:r>
          </a:p>
        </p:txBody>
      </p:sp>
      <p:sp>
        <p:nvSpPr>
          <p:cNvPr id="9" name="Rectangle 8"/>
          <p:cNvSpPr/>
          <p:nvPr/>
        </p:nvSpPr>
        <p:spPr>
          <a:xfrm>
            <a:off x="1275588" y="2743200"/>
            <a:ext cx="9144" cy="475488"/>
          </a:xfrm>
          <a:prstGeom prst="rect">
            <a:avLst/>
          </a:prstGeom>
          <a:solidFill>
            <a:srgbClr val="E7B67A">
              <a:alpha val="40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7" y="3493008"/>
            <a:ext cx="1975104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4FAFC"/>
                </a:solidFill>
                <a:latin typeface="Segoe UI"/>
              </a:rPr>
              <a:t>Ордовик и силур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7" y="3785615"/>
            <a:ext cx="1975104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E4EE"/>
                </a:solidFill>
                <a:latin typeface="Segoe UI"/>
              </a:rPr>
              <a:t>Тёплые мелководья, рифы. Появляются первые рыбы.</a:t>
            </a:r>
          </a:p>
        </p:txBody>
      </p:sp>
      <p:sp>
        <p:nvSpPr>
          <p:cNvPr id="12" name="Oval 11"/>
          <p:cNvSpPr/>
          <p:nvPr/>
        </p:nvSpPr>
        <p:spPr>
          <a:xfrm>
            <a:off x="3543299" y="3236976"/>
            <a:ext cx="137160" cy="137160"/>
          </a:xfrm>
          <a:prstGeom prst="ellipse">
            <a:avLst/>
          </a:prstGeom>
          <a:solidFill>
            <a:srgbClr val="5BD6C6"/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65575" y="3159252"/>
            <a:ext cx="292608" cy="292608"/>
          </a:xfrm>
          <a:prstGeom prst="ellipse">
            <a:avLst/>
          </a:prstGeom>
          <a:solidFill>
            <a:srgbClr val="5BD6C6">
              <a:alpha val="10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97479" y="2286000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E7B67A"/>
                </a:solidFill>
                <a:latin typeface="Segoe UI Light"/>
              </a:rPr>
              <a:t>380 млн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7308" y="2743200"/>
            <a:ext cx="9144" cy="475488"/>
          </a:xfrm>
          <a:prstGeom prst="rect">
            <a:avLst/>
          </a:prstGeom>
          <a:solidFill>
            <a:srgbClr val="E7B67A">
              <a:alpha val="40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24327" y="3493008"/>
            <a:ext cx="1975104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4FAFC"/>
                </a:solidFill>
                <a:latin typeface="Segoe UI"/>
              </a:rPr>
              <a:t>Девон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24327" y="3785615"/>
            <a:ext cx="1975104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E4EE"/>
                </a:solidFill>
                <a:latin typeface="Segoe UI"/>
              </a:rPr>
              <a:t>«Век рыб»: в ухтинских слоях — панцирные рыбы, в доманиковых сланцах — будущая нефть.</a:t>
            </a:r>
          </a:p>
        </p:txBody>
      </p:sp>
      <p:sp>
        <p:nvSpPr>
          <p:cNvPr id="18" name="Oval 17"/>
          <p:cNvSpPr/>
          <p:nvPr/>
        </p:nvSpPr>
        <p:spPr>
          <a:xfrm>
            <a:off x="5875020" y="3236976"/>
            <a:ext cx="137160" cy="137160"/>
          </a:xfrm>
          <a:prstGeom prst="ellipse">
            <a:avLst/>
          </a:prstGeom>
          <a:solidFill>
            <a:srgbClr val="5BD6C6"/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97296" y="3159252"/>
            <a:ext cx="292608" cy="292608"/>
          </a:xfrm>
          <a:prstGeom prst="ellipse">
            <a:avLst/>
          </a:prstGeom>
          <a:solidFill>
            <a:srgbClr val="5BD6C6">
              <a:alpha val="10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2286000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E7B67A"/>
                </a:solidFill>
                <a:latin typeface="Segoe UI Light"/>
              </a:rPr>
              <a:t>325 млн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39028" y="2743200"/>
            <a:ext cx="9144" cy="475488"/>
          </a:xfrm>
          <a:prstGeom prst="rect">
            <a:avLst/>
          </a:prstGeom>
          <a:solidFill>
            <a:srgbClr val="E7B67A">
              <a:alpha val="40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56048" y="3493008"/>
            <a:ext cx="1975104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4FAFC"/>
                </a:solidFill>
                <a:latin typeface="Segoe UI"/>
              </a:rPr>
              <a:t>Карбон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56048" y="3785615"/>
            <a:ext cx="1975104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E4EE"/>
                </a:solidFill>
                <a:latin typeface="Segoe UI"/>
              </a:rPr>
              <a:t>Каменноугольное море Печорского района: конулярии, лилии, акантоды. Его уже собирают в 3D.</a:t>
            </a:r>
          </a:p>
        </p:txBody>
      </p:sp>
      <p:sp>
        <p:nvSpPr>
          <p:cNvPr id="24" name="Oval 23"/>
          <p:cNvSpPr/>
          <p:nvPr/>
        </p:nvSpPr>
        <p:spPr>
          <a:xfrm>
            <a:off x="8206740" y="3236976"/>
            <a:ext cx="137160" cy="137160"/>
          </a:xfrm>
          <a:prstGeom prst="ellipse">
            <a:avLst/>
          </a:prstGeom>
          <a:solidFill>
            <a:srgbClr val="5BD6C6"/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129015" y="3159252"/>
            <a:ext cx="292608" cy="292608"/>
          </a:xfrm>
          <a:prstGeom prst="ellipse">
            <a:avLst/>
          </a:prstGeom>
          <a:solidFill>
            <a:srgbClr val="5BD6C6">
              <a:alpha val="10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60919" y="2286000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E7B67A"/>
                </a:solidFill>
                <a:latin typeface="Segoe UI Light"/>
              </a:rPr>
              <a:t>270 млн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70747" y="2743200"/>
            <a:ext cx="9144" cy="475488"/>
          </a:xfrm>
          <a:prstGeom prst="rect">
            <a:avLst/>
          </a:prstGeom>
          <a:solidFill>
            <a:srgbClr val="E7B67A">
              <a:alpha val="40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87767" y="3493008"/>
            <a:ext cx="1975104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4FAFC"/>
                </a:solidFill>
                <a:latin typeface="Segoe UI"/>
              </a:rPr>
              <a:t>Пермь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87767" y="3785615"/>
            <a:ext cx="1975104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E4EE"/>
                </a:solidFill>
                <a:latin typeface="Segoe UI"/>
              </a:rPr>
              <a:t>Море мелеет, рождаются лагуны и красноцветы. Начинается суша.</a:t>
            </a:r>
          </a:p>
        </p:txBody>
      </p:sp>
      <p:sp>
        <p:nvSpPr>
          <p:cNvPr id="30" name="Oval 29"/>
          <p:cNvSpPr/>
          <p:nvPr/>
        </p:nvSpPr>
        <p:spPr>
          <a:xfrm>
            <a:off x="10538460" y="3236976"/>
            <a:ext cx="137160" cy="137160"/>
          </a:xfrm>
          <a:prstGeom prst="ellipse">
            <a:avLst/>
          </a:prstGeom>
          <a:solidFill>
            <a:srgbClr val="5BD6C6"/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460736" y="3159252"/>
            <a:ext cx="292608" cy="292608"/>
          </a:xfrm>
          <a:prstGeom prst="ellipse">
            <a:avLst/>
          </a:prstGeom>
          <a:solidFill>
            <a:srgbClr val="5BD6C6">
              <a:alpha val="10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2640" y="2286000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E7B67A"/>
                </a:solidFill>
                <a:latin typeface="Segoe UI Light"/>
              </a:rPr>
              <a:t>150 млн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602467" y="2743200"/>
            <a:ext cx="9144" cy="475488"/>
          </a:xfrm>
          <a:prstGeom prst="rect">
            <a:avLst/>
          </a:prstGeom>
          <a:solidFill>
            <a:srgbClr val="E7B67A">
              <a:alpha val="40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19488" y="3493008"/>
            <a:ext cx="1975104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4FAFC"/>
                </a:solidFill>
                <a:latin typeface="Segoe UI"/>
              </a:rPr>
              <a:t>Юра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19488" y="3785615"/>
            <a:ext cx="1975104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E4EE"/>
                </a:solidFill>
                <a:latin typeface="Segoe UI"/>
              </a:rPr>
              <a:t>Последний морской залив на севере. Дальше — только реки.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468112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4FAFC"/>
                </a:solidFill>
                <a:latin typeface="Segoe UI Light"/>
              </a:rPr>
              <a:t>У каждого моря Коми под водой — ещё одно море. И у нынешних девяти тоже.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6291072"/>
            <a:ext cx="10637215" cy="7315"/>
          </a:xfrm>
          <a:prstGeom prst="rect">
            <a:avLst/>
          </a:prstGeom>
          <a:solidFill>
            <a:srgbClr val="F4FAFC">
              <a:alpha val="12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64282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180">
                <a:solidFill>
                  <a:srgbClr val="93B3C3"/>
                </a:solidFill>
                <a:latin typeface="Segoe UI"/>
              </a:rPr>
              <a:t>МОРЯ РЕСПУБЛИКИ КОМИ · АТЛАС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17175" y="6428232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 spc="180">
                <a:solidFill>
                  <a:srgbClr val="93B3C3"/>
                </a:solidFill>
                <a:latin typeface="Segoe U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56692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240">
                <a:solidFill>
                  <a:srgbClr val="5BD6C6"/>
                </a:solidFill>
                <a:latin typeface="Segoe UI"/>
              </a:rPr>
              <a:t>12 · ПРОЕКТ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59536"/>
            <a:ext cx="5669280" cy="1371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4FAFC"/>
                </a:solidFill>
                <a:latin typeface="Segoe UI Light"/>
              </a:rPr>
              <a:t>Море, которое
не построили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5486400" cy="21031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0" i="0">
                <a:solidFill>
                  <a:srgbClr val="C9E4EE"/>
                </a:solidFill>
                <a:latin typeface="Segoe UI"/>
              </a:rPr>
              <a:t>С 1960-х годов разрабатывался проект переброски части стока Вычегды и Печоры в бассейн Волги. Плотины подняли бы уровень северных рек на десятки метров: под водой оказались бы леса, луга, деревни и пойменные моря-старицы.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C9E4EE"/>
                </a:solidFill>
                <a:latin typeface="Segoe UI"/>
              </a:rPr>
              <a:t>В 1986 году работы были прекращены. Самое большое море Коми осталось на чертежах — и это, пожалуй, лучший финал в этом атласе.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691640"/>
            <a:ext cx="4663440" cy="3154680"/>
          </a:xfrm>
          <a:prstGeom prst="roundRect">
            <a:avLst>
              <a:gd name="adj" fmla="val 3000"/>
            </a:avLst>
          </a:prstGeom>
          <a:solidFill>
            <a:srgbClr val="0B1B2B">
              <a:alpha val="85000"/>
            </a:srgbClr>
          </a:solidFill>
          <a:ln w="12700">
            <a:solidFill>
              <a:srgbClr val="5BD6C6">
                <a:alpha val="16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49440" y="2217420"/>
            <a:ext cx="4114800" cy="5486"/>
          </a:xfrm>
          <a:prstGeom prst="rect">
            <a:avLst/>
          </a:prstGeom>
          <a:solidFill>
            <a:srgbClr val="5BD6C6">
              <a:alpha val="6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49440" y="2743200"/>
            <a:ext cx="4114800" cy="5486"/>
          </a:xfrm>
          <a:prstGeom prst="rect">
            <a:avLst/>
          </a:prstGeom>
          <a:solidFill>
            <a:srgbClr val="5BD6C6">
              <a:alpha val="6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49440" y="3268980"/>
            <a:ext cx="4114800" cy="5486"/>
          </a:xfrm>
          <a:prstGeom prst="rect">
            <a:avLst/>
          </a:prstGeom>
          <a:solidFill>
            <a:srgbClr val="5BD6C6">
              <a:alpha val="6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49440" y="3794760"/>
            <a:ext cx="4114800" cy="5486"/>
          </a:xfrm>
          <a:prstGeom prst="rect">
            <a:avLst/>
          </a:prstGeom>
          <a:solidFill>
            <a:srgbClr val="5BD6C6">
              <a:alpha val="6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49440" y="4320540"/>
            <a:ext cx="4114800" cy="5486"/>
          </a:xfrm>
          <a:prstGeom prst="rect">
            <a:avLst/>
          </a:prstGeom>
          <a:solidFill>
            <a:srgbClr val="5BD6C6">
              <a:alpha val="6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40979" y="1929384"/>
            <a:ext cx="5486" cy="2679192"/>
          </a:xfrm>
          <a:prstGeom prst="rect">
            <a:avLst/>
          </a:prstGeom>
          <a:solidFill>
            <a:srgbClr val="5BD6C6">
              <a:alpha val="6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06840" y="1929384"/>
            <a:ext cx="5486" cy="2679192"/>
          </a:xfrm>
          <a:prstGeom prst="rect">
            <a:avLst/>
          </a:prstGeom>
          <a:solidFill>
            <a:srgbClr val="5BD6C6">
              <a:alpha val="6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172700" y="1929384"/>
            <a:ext cx="5486" cy="2679192"/>
          </a:xfrm>
          <a:prstGeom prst="rect">
            <a:avLst/>
          </a:prstGeom>
          <a:solidFill>
            <a:srgbClr val="5BD6C6">
              <a:alpha val="6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7242048" y="3538728"/>
            <a:ext cx="3867912" cy="896112"/>
          </a:xfrm>
          <a:custGeom>
            <a:avLst/>
            <a:gdLst/>
            <a:ahLst/>
            <a:cxnLst/>
            <a:rect l="l" t="t" r="r" b="b"/>
            <a:pathLst>
              <a:path w="3867912" h="896112">
                <a:moveTo>
                  <a:pt x="0" y="0"/>
                </a:moveTo>
                <a:lnTo>
                  <a:pt x="3867912" y="0"/>
                </a:lnTo>
                <a:lnTo>
                  <a:pt x="3867912" y="292608"/>
                </a:lnTo>
                <a:lnTo>
                  <a:pt x="2907792" y="548640"/>
                </a:lnTo>
                <a:lnTo>
                  <a:pt x="2176272" y="786384"/>
                </a:lnTo>
                <a:lnTo>
                  <a:pt x="1444752" y="896112"/>
                </a:lnTo>
                <a:lnTo>
                  <a:pt x="804672" y="758952"/>
                </a:lnTo>
                <a:lnTo>
                  <a:pt x="256032" y="438912"/>
                </a:lnTo>
                <a:lnTo>
                  <a:pt x="0" y="331927"/>
                </a:lnTo>
                <a:close/>
              </a:path>
            </a:pathLst>
          </a:custGeom>
          <a:solidFill>
            <a:srgbClr val="5BD6C6">
              <a:alpha val="20000"/>
            </a:srgbClr>
          </a:solidFill>
          <a:ln w="0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6949440" y="3749040"/>
            <a:ext cx="4160520" cy="685800"/>
          </a:xfrm>
          <a:custGeom>
            <a:avLst/>
            <a:gdLst/>
            <a:ahLst/>
            <a:cxnLst/>
            <a:rect l="l" t="t" r="r" b="b"/>
            <a:pathLst>
              <a:path w="4160520" h="685800">
                <a:moveTo>
                  <a:pt x="0" y="0"/>
                </a:moveTo>
                <a:lnTo>
                  <a:pt x="548640" y="228600"/>
                </a:lnTo>
                <a:lnTo>
                  <a:pt x="1097280" y="548640"/>
                </a:lnTo>
                <a:lnTo>
                  <a:pt x="1737360" y="685800"/>
                </a:lnTo>
                <a:lnTo>
                  <a:pt x="2468880" y="576072"/>
                </a:lnTo>
                <a:lnTo>
                  <a:pt x="3200400" y="338328"/>
                </a:lnTo>
                <a:lnTo>
                  <a:pt x="3931920" y="155448"/>
                </a:lnTo>
                <a:lnTo>
                  <a:pt x="4160520" y="82296"/>
                </a:lnTo>
              </a:path>
            </a:pathLst>
          </a:custGeom>
          <a:noFill/>
          <a:ln w="19050">
            <a:solidFill>
              <a:srgbClr val="5BD6C6">
                <a:alpha val="5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86600" y="3538728"/>
            <a:ext cx="4069080" cy="10972"/>
          </a:xfrm>
          <a:prstGeom prst="rect">
            <a:avLst/>
          </a:prstGeom>
          <a:solidFill>
            <a:srgbClr val="5BD6C6">
              <a:alpha val="40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3538728"/>
            <a:ext cx="137160" cy="786384"/>
          </a:xfrm>
          <a:prstGeom prst="rect">
            <a:avLst/>
          </a:prstGeom>
          <a:solidFill>
            <a:srgbClr val="E7B67A">
              <a:alpha val="60000"/>
            </a:srgbClr>
          </a:solidFill>
          <a:ln w="9525">
            <a:solidFill>
              <a:srgbClr val="E7B67A">
                <a:alpha val="70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54112" y="4379976"/>
            <a:ext cx="118872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 spc="100">
                <a:solidFill>
                  <a:srgbClr val="E7B67A"/>
                </a:solidFill>
                <a:latin typeface="Segoe UI"/>
              </a:rPr>
              <a:t>ПЛОТИНА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3300984"/>
            <a:ext cx="1481328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BD6C6"/>
                </a:solidFill>
                <a:latin typeface="Segoe UI"/>
              </a:rPr>
              <a:t>проектный уровень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544568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 spc="60">
                <a:solidFill>
                  <a:srgbClr val="93B3C3"/>
                </a:solidFill>
                <a:latin typeface="Segoe UI"/>
              </a:rPr>
              <a:t>РАЗРЕЗ ПО ДОЛИНЕ · ВОДА ВЫШЕ, ЧЕМ БЫЛА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002536"/>
            <a:ext cx="402336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 spc="120">
                <a:solidFill>
                  <a:srgbClr val="93B3C3"/>
                </a:solidFill>
                <a:latin typeface="Segoe UI"/>
              </a:rPr>
              <a:t>СХЕМА КВП · 1960–1986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292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5BD6C6"/>
                </a:solidFill>
                <a:latin typeface="Segoe UI Light"/>
              </a:rPr>
              <a:t>десятки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504688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B3C3"/>
                </a:solidFill>
                <a:latin typeface="Segoe UI"/>
              </a:rPr>
              <a:t>метров — проектный подъём уровня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50292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5BD6C6"/>
                </a:solidFill>
                <a:latin typeface="Segoe UI Light"/>
              </a:rPr>
              <a:t>26 лет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5504688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B3C3"/>
                </a:solidFill>
                <a:latin typeface="Segoe UI"/>
              </a:rPr>
              <a:t>проектирования, с 1960 по 1986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50292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5BD6C6"/>
                </a:solidFill>
                <a:latin typeface="Segoe UI Light"/>
              </a:rPr>
              <a:t>0 км²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5504688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B3C3"/>
                </a:solidFill>
                <a:latin typeface="Segoe UI"/>
              </a:rPr>
              <a:t>затоплено: проект остановлен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6291072"/>
            <a:ext cx="10637215" cy="7315"/>
          </a:xfrm>
          <a:prstGeom prst="rect">
            <a:avLst/>
          </a:prstGeom>
          <a:solidFill>
            <a:srgbClr val="F4FAFC">
              <a:alpha val="12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64282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180">
                <a:solidFill>
                  <a:srgbClr val="93B3C3"/>
                </a:solidFill>
                <a:latin typeface="Segoe UI"/>
              </a:rPr>
              <a:t>МОРЯ РЕСПУБЛИКИ КОМИ · АТЛАС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17175" y="6428232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 spc="180">
                <a:solidFill>
                  <a:srgbClr val="93B3C3"/>
                </a:solidFill>
                <a:latin typeface="Segoe U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240">
                <a:solidFill>
                  <a:srgbClr val="187F78"/>
                </a:solidFill>
                <a:latin typeface="Segoe UI"/>
              </a:rPr>
              <a:t>13 · ЦИФРЫ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59536"/>
            <a:ext cx="10637215" cy="1371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0B1F2E"/>
                </a:solidFill>
                <a:latin typeface="Segoe UI Light"/>
              </a:rPr>
              <a:t>Моря в цифрах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64208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35A6E"/>
                </a:solidFill>
                <a:latin typeface="Segoe UI"/>
              </a:rPr>
              <a:t>Площадь водного зеркала, км² — по реальным водоёмам атласа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67712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B1F2E"/>
                </a:solidFill>
                <a:latin typeface="Segoe UI"/>
              </a:rPr>
              <a:t>Ямское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2249424"/>
            <a:ext cx="2743200" cy="201168"/>
          </a:xfrm>
          <a:prstGeom prst="rect">
            <a:avLst/>
          </a:prstGeom>
          <a:solidFill>
            <a:srgbClr val="0B1F2E">
              <a:alpha val="6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83280" y="2249424"/>
            <a:ext cx="2743200" cy="201168"/>
          </a:xfrm>
          <a:prstGeom prst="rect">
            <a:avLst/>
          </a:prstGeom>
          <a:solidFill>
            <a:srgbClr val="187F78"/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36208" y="2240280"/>
            <a:ext cx="82296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7F78"/>
                </a:solidFill>
                <a:latin typeface="Segoe UI"/>
              </a:rPr>
              <a:t>31,1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16352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B1F2E"/>
                </a:solidFill>
                <a:latin typeface="Segoe UI"/>
              </a:rPr>
              <a:t>Коми море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798064"/>
            <a:ext cx="2743200" cy="201168"/>
          </a:xfrm>
          <a:prstGeom prst="rect">
            <a:avLst/>
          </a:prstGeom>
          <a:solidFill>
            <a:srgbClr val="0B1F2E">
              <a:alpha val="6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2798064"/>
            <a:ext cx="2513864" cy="201168"/>
          </a:xfrm>
          <a:prstGeom prst="rect">
            <a:avLst/>
          </a:prstGeom>
          <a:solidFill>
            <a:srgbClr val="187F78"/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06872" y="2788920"/>
            <a:ext cx="82296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7F78"/>
                </a:solidFill>
                <a:latin typeface="Segoe UI"/>
              </a:rPr>
              <a:t>28,5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64992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B1F2E"/>
                </a:solidFill>
                <a:latin typeface="Segoe UI"/>
              </a:rPr>
              <a:t>Косминское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3346704"/>
            <a:ext cx="2743200" cy="201168"/>
          </a:xfrm>
          <a:prstGeom prst="rect">
            <a:avLst/>
          </a:prstGeom>
          <a:solidFill>
            <a:srgbClr val="0B1F2E">
              <a:alpha val="6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3346704"/>
            <a:ext cx="1111392" cy="201168"/>
          </a:xfrm>
          <a:prstGeom prst="rect">
            <a:avLst/>
          </a:prstGeom>
          <a:solidFill>
            <a:srgbClr val="187F78"/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04400" y="3337560"/>
            <a:ext cx="82296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7F78"/>
                </a:solidFill>
                <a:latin typeface="Segoe UI"/>
              </a:rPr>
              <a:t>12,6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913631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B1F2E"/>
                </a:solidFill>
                <a:latin typeface="Segoe UI"/>
              </a:rPr>
              <a:t>Печорское наливное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3895344"/>
            <a:ext cx="2743200" cy="201168"/>
          </a:xfrm>
          <a:prstGeom prst="rect">
            <a:avLst/>
          </a:prstGeom>
          <a:solidFill>
            <a:srgbClr val="0B1F2E">
              <a:alpha val="6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83280" y="3895344"/>
            <a:ext cx="506301" cy="201168"/>
          </a:xfrm>
          <a:prstGeom prst="rect">
            <a:avLst/>
          </a:prstGeom>
          <a:solidFill>
            <a:srgbClr val="A56A2C"/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99309" y="3886200"/>
            <a:ext cx="82296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6A2C"/>
                </a:solidFill>
                <a:latin typeface="Segoe UI"/>
              </a:rPr>
              <a:t>5,74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462271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B1F2E"/>
                </a:solidFill>
                <a:latin typeface="Segoe UI"/>
              </a:rPr>
              <a:t>Нювчимское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4443983"/>
            <a:ext cx="2743200" cy="201168"/>
          </a:xfrm>
          <a:prstGeom prst="rect">
            <a:avLst/>
          </a:prstGeom>
          <a:solidFill>
            <a:srgbClr val="0B1F2E">
              <a:alpha val="6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83280" y="4443983"/>
            <a:ext cx="151713" cy="201168"/>
          </a:xfrm>
          <a:prstGeom prst="rect">
            <a:avLst/>
          </a:prstGeom>
          <a:solidFill>
            <a:srgbClr val="A56A2C"/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44721" y="4434840"/>
            <a:ext cx="82296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6A2C"/>
                </a:solidFill>
                <a:latin typeface="Segoe UI"/>
              </a:rPr>
              <a:t>1,72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10911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B1F2E"/>
                </a:solidFill>
                <a:latin typeface="Segoe UI"/>
              </a:rPr>
              <a:t>Кажимское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0" y="4992623"/>
            <a:ext cx="2743200" cy="201168"/>
          </a:xfrm>
          <a:prstGeom prst="rect">
            <a:avLst/>
          </a:prstGeom>
          <a:solidFill>
            <a:srgbClr val="0B1F2E">
              <a:alpha val="6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83280" y="4992623"/>
            <a:ext cx="127898" cy="201168"/>
          </a:xfrm>
          <a:prstGeom prst="rect">
            <a:avLst/>
          </a:prstGeom>
          <a:solidFill>
            <a:srgbClr val="A56A2C"/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20906" y="4983479"/>
            <a:ext cx="82296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6A2C"/>
                </a:solidFill>
                <a:latin typeface="Segoe UI"/>
              </a:rPr>
              <a:t>1,45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5586983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7C8C"/>
                </a:solidFill>
                <a:latin typeface="Segoe UI"/>
              </a:rPr>
              <a:t>Для сравнения: Печорское море атласа — это 1809 км длины, а не площади.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06640" y="2194560"/>
            <a:ext cx="1874519" cy="1627632"/>
          </a:xfrm>
          <a:prstGeom prst="roundRect">
            <a:avLst>
              <a:gd name="adj" fmla="val 6000"/>
            </a:avLst>
          </a:prstGeom>
          <a:solidFill>
            <a:srgbClr val="F4FAFC">
              <a:alpha val="80000"/>
            </a:srgbClr>
          </a:solidFill>
          <a:ln w="12700">
            <a:solidFill>
              <a:srgbClr val="0B1F2E">
                <a:alpha val="7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07808" y="2395728"/>
            <a:ext cx="150876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0B1F2E"/>
                </a:solidFill>
                <a:latin typeface="Segoe UI Light"/>
              </a:rPr>
              <a:t>31,1 км²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07808" y="3090672"/>
            <a:ext cx="150876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5A6E"/>
                </a:solidFill>
                <a:latin typeface="Segoe UI"/>
              </a:rPr>
              <a:t>крупнейшее природное — Ямское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64040" y="2194560"/>
            <a:ext cx="1874519" cy="1627632"/>
          </a:xfrm>
          <a:prstGeom prst="roundRect">
            <a:avLst>
              <a:gd name="adj" fmla="val 6000"/>
            </a:avLst>
          </a:prstGeom>
          <a:solidFill>
            <a:srgbClr val="F4FAFC">
              <a:alpha val="80000"/>
            </a:srgbClr>
          </a:solidFill>
          <a:ln w="12700">
            <a:solidFill>
              <a:srgbClr val="0B1F2E">
                <a:alpha val="7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65208" y="2395728"/>
            <a:ext cx="150876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0B1F2E"/>
                </a:solidFill>
                <a:latin typeface="Segoe UI Light"/>
              </a:rPr>
              <a:t>1979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5208" y="3090672"/>
            <a:ext cx="150876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5A6E"/>
                </a:solidFill>
                <a:latin typeface="Segoe UI"/>
              </a:rPr>
              <a:t>год рождения первого рукотворного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06640" y="4023360"/>
            <a:ext cx="1874519" cy="1627632"/>
          </a:xfrm>
          <a:prstGeom prst="roundRect">
            <a:avLst>
              <a:gd name="adj" fmla="val 6000"/>
            </a:avLst>
          </a:prstGeom>
          <a:solidFill>
            <a:srgbClr val="F4FAFC">
              <a:alpha val="80000"/>
            </a:srgbClr>
          </a:solidFill>
          <a:ln w="12700">
            <a:solidFill>
              <a:srgbClr val="0B1F2E">
                <a:alpha val="7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07808" y="4224528"/>
            <a:ext cx="150876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0B1F2E"/>
                </a:solidFill>
                <a:latin typeface="Segoe UI Light"/>
              </a:rPr>
              <a:t>0,43 %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07808" y="4919472"/>
            <a:ext cx="150876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5A6E"/>
                </a:solidFill>
                <a:latin typeface="Segoe UI"/>
              </a:rPr>
              <a:t>озёрность республики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464040" y="4023360"/>
            <a:ext cx="1874519" cy="1627632"/>
          </a:xfrm>
          <a:prstGeom prst="roundRect">
            <a:avLst>
              <a:gd name="adj" fmla="val 6000"/>
            </a:avLst>
          </a:prstGeom>
          <a:solidFill>
            <a:srgbClr val="F4FAFC">
              <a:alpha val="80000"/>
            </a:srgbClr>
          </a:solidFill>
          <a:ln w="12700">
            <a:solidFill>
              <a:srgbClr val="0B1F2E">
                <a:alpha val="7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65208" y="4224528"/>
            <a:ext cx="150876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0B1F2E"/>
                </a:solidFill>
                <a:latin typeface="Segoe UI Light"/>
              </a:rPr>
              <a:t>1,8 тыс. км²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65208" y="4919472"/>
            <a:ext cx="150876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5A6E"/>
                </a:solidFill>
                <a:latin typeface="Segoe UI"/>
              </a:rPr>
              <a:t>суммарная площадь всех озёр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" y="6291072"/>
            <a:ext cx="10637215" cy="7315"/>
          </a:xfrm>
          <a:prstGeom prst="rect">
            <a:avLst/>
          </a:prstGeom>
          <a:solidFill>
            <a:srgbClr val="0B1F2E">
              <a:alpha val="12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64282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180">
                <a:solidFill>
                  <a:srgbClr val="5B7C8C"/>
                </a:solidFill>
                <a:latin typeface="Segoe UI"/>
              </a:rPr>
              <a:t>МОРЯ РЕСПУБЛИКИ КОМИ · АТЛАС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17175" y="6428232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 spc="180">
                <a:solidFill>
                  <a:srgbClr val="5B7C8C"/>
                </a:solidFill>
                <a:latin typeface="Segoe U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F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60120" y="-411480"/>
            <a:ext cx="13654698" cy="76809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50F1B">
                  <a:alpha val="93000"/>
                </a:srgbClr>
              </a:gs>
              <a:gs pos="42000">
                <a:srgbClr val="050F1B">
                  <a:alpha val="81840"/>
                </a:srgbClr>
              </a:gs>
              <a:gs pos="72000">
                <a:srgbClr val="050F1B">
                  <a:alpha val="0"/>
                </a:srgbClr>
              </a:gs>
            </a:gsLst>
            <a:lin ang="0" scaled="0"/>
          </a:gradFill>
          <a:ln w="0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260">
                <a:solidFill>
                  <a:srgbClr val="5BD6C6"/>
                </a:solidFill>
                <a:latin typeface="Segoe UI"/>
              </a:rPr>
              <a:t>ВМЕСТО ВЫВОДА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76272"/>
            <a:ext cx="6400800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0" i="0">
                <a:solidFill>
                  <a:srgbClr val="F4FAFC"/>
                </a:solidFill>
                <a:latin typeface="Segoe UI Light"/>
              </a:rPr>
              <a:t>Море — это не география.
Это согласие.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529584"/>
            <a:ext cx="5669280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C9E4EE"/>
                </a:solidFill>
                <a:latin typeface="Segoe UI"/>
              </a:rPr>
              <a:t>У Республики Коми нет выхода к морю. Но есть девять морей, один океан и три моря, которых уже нет, — и все они на своём месте. Наука называет их озёрами, водохранилищами и болотами. Атлас разрешает называть их морями: на то он и атлас.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5504688"/>
            <a:ext cx="2377440" cy="10972"/>
          </a:xfrm>
          <a:prstGeom prst="rect">
            <a:avLst/>
          </a:prstGeom>
          <a:solidFill>
            <a:srgbClr val="5BD6C6">
              <a:alpha val="40000"/>
            </a:srgbClr>
          </a:solidFill>
          <a:ln w="0"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650992"/>
            <a:ext cx="557784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3B3C3"/>
                </a:solidFill>
                <a:latin typeface="Segoe UI"/>
              </a:rPr>
              <a:t>Цифры — по открытым гидрологическим справочникам и работам Института геологии Коми НЦ УрО РАН. Названия морей №6–9 — атласные: так их называют здесь.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Моря Республики Коми</dc:title>
  <dc:subject>Атлас-путеводитель по морям Республики Коми</dc:subject>
  <dc:creator>Атлас «Моря Республики Коми»</dc:creator>
  <cp:keywords>Коми, моря, озёра, водохранилища, атлас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